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3" r:id="rId13"/>
    <p:sldId id="274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6" d="100"/>
          <a:sy n="156" d="100"/>
        </p:scale>
        <p:origin x="192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Advisor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CCCCCC"/>
                </a:solidFill>
              </a:defRPr>
            </a:pPr>
            <a:r>
              <a:t>Mehmet Koruturk  &amp;  Prof. Ming Jin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27432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Virginia Tech — RoleLab  |  March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72000"/>
            <a:ext cx="2468880" cy="64008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1. PhD Applications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4572000"/>
            <a:ext cx="2468880" cy="64008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2. Master's Thesis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572000"/>
            <a:ext cx="2468880" cy="64008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3. SmartGridComm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4572000"/>
            <a:ext cx="2468880" cy="64008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4. VT PEC Conference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7ACC"/>
                </a:solidFill>
              </a:defRPr>
            </a:pPr>
            <a:r>
              <a:t>PhD Application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83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TAMU acceptance, MIT/CMU decisions, JHU pending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51760"/>
            <a:ext cx="502920" cy="502920"/>
          </a:xfrm>
          <a:prstGeom prst="ellipse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606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EA043"/>
                </a:solidFill>
              </a:defRPr>
            </a:pPr>
            <a:r>
              <a:t>Master's Thesis Progress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SustainRL-Bench: project overview, experiments, timeline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7722"/>
                </a:solidFill>
              </a:defRPr>
            </a:pPr>
            <a:r>
              <a:t>SmartGridComm 2026 Paper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Current status, novelty, contributions, next steps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61F41"/>
                </a:solidFill>
              </a:defRPr>
            </a:pPr>
            <a:r>
              <a:t>VT PEC Annual Conference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Group presentation need and help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1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1. PhD Application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7722"/>
                </a:solidFill>
              </a:defRPr>
            </a:pPr>
            <a:r>
              <a:t>Fall 2026 Admissions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PhD Application Status — Fall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64008" cy="14630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Texas A&amp;M University (TAMU)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Accepted to PhD program!</a:t>
            </a:r>
            <a:br/>
            <a:r>
              <a:t>Department: Electrical &amp; Computer Engineering</a:t>
            </a:r>
            <a:br/>
            <a:r>
              <a:t>This is currently our strongest option.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417320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ACCEPTED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10896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64008" cy="10058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18211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</a:defRPr>
            </a:pPr>
            <a:r>
              <a:t>Massachusetts Institute of Technology (MIT)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93008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Application was not successful.</a:t>
            </a:r>
            <a:br/>
            <a:r>
              <a:t>Result: Rejected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154680"/>
            <a:ext cx="1280160" cy="32004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REJECTED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108960"/>
            <a:ext cx="53035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108960"/>
            <a:ext cx="64008" cy="100584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18211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</a:defRPr>
            </a:pPr>
            <a:r>
              <a:t>Carnegie Mellon University (CMU)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493008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Application was not successful.</a:t>
            </a:r>
            <a:br/>
            <a:r>
              <a:t>Result: Rejected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332720" y="3154680"/>
            <a:ext cx="1280160" cy="32004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REJECTED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371600"/>
            <a:ext cx="53035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1371600"/>
            <a:ext cx="64008" cy="1463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144475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Johns Hopkins University (JHU)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755648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Decision still pending.</a:t>
            </a:r>
            <a:br/>
            <a:r>
              <a:t>Expecting to hear back soon.</a:t>
            </a:r>
            <a:br/>
            <a:r>
              <a:t>Will update as soon as result arrives.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332720" y="1417320"/>
            <a:ext cx="1280160" cy="32004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Next Steps: Waiting on JHU decision. Will evaluate offers once all results are 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20640"/>
            <a:ext cx="109728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64008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5193792"/>
            <a:ext cx="10652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Discussion 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04688"/>
            <a:ext cx="10652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- Would appreciate your advice on comparing programs</a:t>
            </a:r>
            <a:br/>
            <a:r>
              <a:t>- TAMU vs. JHU (if accepted): research fit, advisor match, funding</a:t>
            </a:r>
            <a:br/>
            <a:r>
              <a:t>- Any connections or recommendations for the TAMU ECE department?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1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2. Master's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7722"/>
                </a:solidFill>
              </a:defRPr>
            </a:pPr>
            <a:r>
              <a:t>SustainRL-Bench: RL Benchmark on SustainGym Environments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SustainRL-Bench —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66666"/>
                </a:solidFill>
              </a:defRPr>
            </a:pPr>
            <a:r>
              <a:t>Benchmarking RL algorithms on three SustainGym energy environments across three experimental axes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64008" cy="146304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EV Charging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ACN-Data / Caltech</a:t>
            </a:r>
            <a:br/>
            <a:r>
              <a:t>54 stations, 288 timesteps</a:t>
            </a:r>
            <a:br/>
            <a:r>
              <a:t>Profit - Carbon - Excess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64008" cy="1463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8105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Building HVAC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121408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EnergyPlus RC Model</a:t>
            </a:r>
            <a:br/>
            <a:r>
              <a:t>Multi-zone thermal control</a:t>
            </a:r>
            <a:br/>
            <a:r>
              <a:t>Comfort vs Energy tradeoff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47472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737360"/>
            <a:ext cx="64008" cy="1463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81051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7722"/>
                </a:solidFill>
              </a:defRPr>
            </a:pPr>
            <a:r>
              <a:t>Cogeneration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121408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ONNX Surrogate Plant</a:t>
            </a:r>
            <a:br/>
            <a:r>
              <a:t>3 Gas Turbines + Steam</a:t>
            </a:r>
            <a:br/>
            <a:r>
              <a:t>Fuel - Ramp - Violations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61F41"/>
                </a:solidFill>
              </a:defRPr>
            </a:pPr>
            <a:r>
              <a:t>Three Experimental Axes: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93192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64008" cy="155448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0050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Noise Robustness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15968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Observation / Action / Environment</a:t>
            </a:r>
            <a:br/>
            <a:r>
              <a:t>noise decomposition across</a:t>
            </a:r>
            <a:br/>
            <a:r>
              <a:t>10+ noise levels per env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393192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97680" y="3931920"/>
            <a:ext cx="64008" cy="15544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80560" y="40050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Safe RL (CMDP)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315968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PPOLag, CPO, OnCRPO, FOCOPS,</a:t>
            </a:r>
            <a:br/>
            <a:r>
              <a:t>SACLag via OmniSafe framework</a:t>
            </a:r>
            <a:br/>
            <a:r>
              <a:t>4 cost limits tested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931920"/>
            <a:ext cx="34747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138160" y="3931920"/>
            <a:ext cx="64008" cy="155448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40050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Multi-Agent RL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4315968"/>
            <a:ext cx="3154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PettingZoo ParallelEnv + Ray RLlib</a:t>
            </a:r>
            <a:br/>
            <a:r>
              <a:t>Per-component agent decomposition</a:t>
            </a:r>
            <a:br/>
            <a:r>
              <a:t>Shared reward 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Algorithms:  PPO  |  SAC  |  TD3  (SB3)    +    PPOLag / CPO / OnCRPO / FOCOPS / SACLag  (OmniSafe)    +    APPO / SAC / PPO  (RLlib)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Thesis — Current Status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1F41"/>
                </a:solidFill>
              </a:defRPr>
            </a:pPr>
            <a:r>
              <a:t>Experiment Completion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  Standard RL Training (PPO/SAC/TD3)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85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All 3 envs: noise sweeps complete (obs, action, env)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91640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  Safe RL (OmniSafe)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1576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5 algos x 3 envs x 4 cost limits = 60 runs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2468880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  Multi-Agent RL (RLlib)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9300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EV: APPO | Building: SAC | Cogen: PPO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3246120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77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  Model Testing &amp;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702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Robustness testing across noise conditions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4023360"/>
            <a:ext cx="1280160" cy="32004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754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</a:defRPr>
            </a:pPr>
            <a:r>
              <a:t>  Results Analysis &amp; Plots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4748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Training curves, bar charts, heatmaps, Pareto fronts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800600"/>
            <a:ext cx="1280160" cy="32004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03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1F41"/>
                </a:solidFill>
              </a:defRPr>
            </a:pPr>
            <a:r>
              <a:t>Thesis Writing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692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Ch.1 Introduction — drafted (research questions, objectives)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Ch.2 Literature Review — drafted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Ch.3 Preliminaries — drafted (MDP, algorithms, CMDP)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Ch.4 Methodology — drafted (SustainRL-Bench framework)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333333"/>
                </a:solidFill>
              </a:rPr>
              <a:t>Ch.5 Results &amp; Ch.6 Conclusion — pending final experiments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1188720"/>
            <a:ext cx="347472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12480" y="1188720"/>
            <a:ext cx="64008" cy="32004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0" y="126187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Plan &amp; Timeline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1572768"/>
            <a:ext cx="3154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1. Complete remaining experiments (testing)</a:t>
            </a:r>
            <a:br/>
            <a:r>
              <a:t>2. Finalize results analysis &amp; generate all figures</a:t>
            </a:r>
            <a:br/>
            <a:r>
              <a:t>3. Write Ch.5 (Results) &amp; Ch.6 (Conclusion)</a:t>
            </a:r>
            <a:br/>
            <a:r>
              <a:t>4. Full document review &amp; polish</a:t>
            </a:r>
            <a:br/>
            <a:r>
              <a:t>5. Send to Prof. Jin for review</a:t>
            </a:r>
            <a:br/>
            <a:br/>
            <a:r>
              <a:t>Goal: Submit complete draft for your review ASAP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0" y="475488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412480" y="4754880"/>
            <a:ext cx="64008" cy="18288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95360" y="4828032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Key Message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138928"/>
            <a:ext cx="3154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Experiments are largely complete.</a:t>
            </a:r>
            <a:br/>
            <a:r>
              <a:t>Will finish writing and send the full</a:t>
            </a:r>
            <a:br/>
            <a:r>
              <a:t>thesis draft to you for review and</a:t>
            </a:r>
            <a:br/>
            <a:r>
              <a:t>feedback as soon as possible.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1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3. SmartGridComm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7722"/>
                </a:solidFill>
              </a:defRPr>
            </a:pPr>
            <a:r>
              <a:t>IEEE SmartGridComm  |  Deadline: June 19,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SmartGridComm 2026 — Paper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</a:defRPr>
            </a:pPr>
            <a:r>
              <a:t>Target: IEEE SmartGridComm 2026  |  Deadline: June 19, 2026  |  Format: 6 pages IEEE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1F41"/>
                </a:solidFill>
              </a:defRPr>
            </a:pPr>
            <a:r>
              <a:t>Paper Preparation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  Experimental Infrastructure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91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Complete — all training scripts, envs, SLURM pipelines ready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121408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  Standard RL Experiments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44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All 3 algos x 3 envs x noise sweeps trained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807208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  Safe RL Experiments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307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OmniSafe: 5 algos x 3 envs x 4 cost limits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3493008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1605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  MARL Experiments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165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Ray RLlib: per-env agent decomposition trained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4178808"/>
            <a:ext cx="128016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463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  Non-RL Baselines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023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Rule-based &amp; optimization baselines needed for comparison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864608"/>
            <a:ext cx="1280160" cy="320040"/>
          </a:xfrm>
          <a:prstGeom prst="round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TODO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321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</a:defRPr>
            </a:pPr>
            <a:r>
              <a:t>  Paper Writing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881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     Outline ready, need to draft 6-page manuscript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5550408"/>
            <a:ext cx="1280160" cy="320040"/>
          </a:xfrm>
          <a:prstGeom prst="round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IN PROGRESS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2103120"/>
            <a:ext cx="2286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601200" y="2103120"/>
            <a:ext cx="64008" cy="18288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84080" y="217627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3333"/>
                </a:solidFill>
              </a:defRPr>
            </a:pPr>
            <a:r>
              <a:t>Critical Gap: Non-RL Baselines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2487168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Reviewers will ask: 'Why use RL at all?'</a:t>
            </a:r>
            <a:br/>
            <a:r>
              <a:t>Need: Do-Nothing, Rule-Based, and ideally</a:t>
            </a:r>
            <a:br/>
            <a:r>
              <a:t>one optimization baseline (MPC or LP)</a:t>
            </a:r>
            <a:br/>
            <a:r>
              <a:t>for each environment.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4206240"/>
            <a:ext cx="22860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601200" y="4206240"/>
            <a:ext cx="64008" cy="18288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0" y="427939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Paper Timeline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4590288"/>
            <a:ext cx="1965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Mar-Apr: Complete baselines + testing</a:t>
            </a:r>
            <a:br/>
            <a:r>
              <a:t>Apr-May: Core experiments (5 seeds)</a:t>
            </a:r>
            <a:br/>
            <a:r>
              <a:t>May-Jun: Analysis &amp; writing</a:t>
            </a:r>
            <a:br/>
            <a:r>
              <a:t>Jun 12-19: Final review &amp; submit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SmartGridComm — Novelty &amp;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A043"/>
                </a:solidFill>
              </a:defRPr>
            </a:pPr>
            <a:r>
              <a:t>Novel Contributions (What We Can Claim)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61F41"/>
                </a:solidFill>
              </a:defRPr>
            </a:pPr>
            <a:r>
              <a:t>C1: First Unified Multi-Paradigm Benchmark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Standard RL + Safe RL + MARL across EV Charging,</a:t>
            </a:r>
            <a:br/>
            <a:r>
              <a:t>Building HVAC, and Cogeneration under one protocol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1188720" cy="2743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Conf: HIGH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61F41"/>
                </a:solidFill>
              </a:defRPr>
            </a:pPr>
            <a:r>
              <a:t>C2: Systematic Noise Robustness Decomposition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803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Three independent noise channels (obs/action/env)</a:t>
            </a:r>
            <a:br/>
            <a:r>
              <a:t>characterized across three energy domains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651760"/>
            <a:ext cx="1188720" cy="2743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Conf: 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661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61F41"/>
                </a:solidFill>
              </a:defRPr>
            </a:pPr>
            <a:r>
              <a:t>C3: First Safe RL Benchmark for EV &amp; Cogen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Novel CMDP formulations with domain-specific cost</a:t>
            </a:r>
            <a:br/>
            <a:r>
              <a:t>signals (excess charge, power, constraint violations)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611880"/>
            <a:ext cx="11887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Conf: MED-HIGH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8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61F41"/>
                </a:solidFill>
              </a:defRPr>
            </a:pPr>
            <a:r>
              <a:t>C4: Cross-Paradigm Comparison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Standard RL vs Safe RL vs MARL tradeoff analysis</a:t>
            </a:r>
            <a:br/>
            <a:r>
              <a:t>on the same environments and 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572000"/>
            <a:ext cx="1188720" cy="27432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Conf: 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61F41"/>
                </a:solidFill>
              </a:defRPr>
            </a:pPr>
            <a:r>
              <a:t>C5: Open-Source Reproducible Suite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607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Full code, SLURM scripts, standardized evaluation</a:t>
            </a:r>
            <a:br/>
            <a:r>
              <a:t>protocol for community reproducibility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5532120"/>
            <a:ext cx="1188720" cy="27432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Conf: 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188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3333"/>
                </a:solidFill>
              </a:defRPr>
            </a:pPr>
            <a:r>
              <a:t>Not Novel (Don't Over-Claim)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>
                <a:solidFill>
                  <a:srgbClr val="666666"/>
                </a:solidFill>
              </a:rPr>
              <a:t>Environments themselves (SustainGym, NeurIPS 2023)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>
                <a:solidFill>
                  <a:srgbClr val="666666"/>
                </a:solidFill>
              </a:rPr>
              <a:t>Individual algorithms (PPO, SAC, TD3, OmniSafe algos)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>
                <a:solidFill>
                  <a:srgbClr val="666666"/>
                </a:solidFill>
              </a:rPr>
              <a:t>PettingZoo/RLlib frameworks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>
                <a:solidFill>
                  <a:srgbClr val="666666"/>
                </a:solidFill>
              </a:rPr>
              <a:t>Basic noise injection techniques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657600"/>
            <a:ext cx="3840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46720" y="3657600"/>
            <a:ext cx="64008" cy="228600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373075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Positioning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041648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We don't claim new algorithms or environments.</a:t>
            </a:r>
            <a:br/>
            <a:r>
              <a:t>Our contribution is the BENCHMARK PROTOCOL:</a:t>
            </a:r>
            <a:br/>
            <a:r>
              <a:t>the first systematic, multi-paradigm evaluation</a:t>
            </a:r>
            <a:br/>
            <a:r>
              <a:t>of RL in sustainable energy systems, with</a:t>
            </a:r>
            <a:br/>
            <a:r>
              <a:t>noise robustness as a unique axis.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Possible Paper Titles &amp; Main Stories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Which framing gives us the strongest SmartGridComm paper? Key insights from our experiments below.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14500"/>
            <a:ext cx="1005840" cy="32004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OPTION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6401"/>
            <a:ext cx="107549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61F41"/>
                </a:solidFill>
              </a:defRPr>
            </a:pPr>
            <a:r>
              <a:rPr dirty="0"/>
              <a:t>"</a:t>
            </a:r>
            <a:r>
              <a:rPr dirty="0" err="1"/>
              <a:t>SustainRL</a:t>
            </a:r>
            <a:r>
              <a:rPr dirty="0"/>
              <a:t>-Bench: A Multi-Paradigm Benchmark for</a:t>
            </a:r>
            <a:r>
              <a:rPr lang="en-US" dirty="0"/>
              <a:t> </a:t>
            </a:r>
            <a:r>
              <a:rPr dirty="0"/>
              <a:t>Reinforcement Learning in Sustainable Energy Systems"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23869"/>
            <a:ext cx="105156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rPr dirty="0"/>
              <a:t>Main Story: We present the first benchmark that systematically evaluates standard RL, safe (constrained) RL, and multi-agent RL on the same three energy environments under a unified protocol. Our preliminary results already reveal several non-obvious findings: (1) noise vulnerability is highly asymmetric across channels — Building HVAC suffers 256% performance loss under observation noise at 0.4 but is nearly immune to action noise (&lt;5% variance across all levels), while EV charging counter-intuitively improves by 69-116% under moderate observation noise, suggesting a regularization effect unique to high-dimensional charging coordination; (2) safe RL algorithms exhibit a wide performance-safety spectrum — IPO achieves near-zero constraint cost on EV charging (10^-33) with reward &gt;9.0, but shows 100x cost variance across seeds, whereas PCPO provides stable constraint satisfaction (~3.0) on Building at the expense of reward; (3) cross-paradigm comparison reveals that the optimal RL paradigm is strongly environment-dependent. The paper's anchor claim is the benchmark protocol itself: no prior work covers this 3-env x 3-paradigm x 3-noise intersection. This is the broadest scope, telling the full thesis story in 6 pages.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9254" y="5052367"/>
            <a:ext cx="4114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9254" y="5052367"/>
            <a:ext cx="64008" cy="118872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2134" y="5125519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Strengths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2134" y="5362772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rPr dirty="0"/>
              <a:t>- Maximum novelty surface (3x3x3)</a:t>
            </a:r>
            <a:br>
              <a:rPr dirty="0"/>
            </a:br>
            <a:r>
              <a:rPr dirty="0"/>
              <a:t>- Named benchmark aids citation</a:t>
            </a:r>
            <a:br>
              <a:rPr dirty="0"/>
            </a:br>
            <a:r>
              <a:rPr dirty="0"/>
              <a:t>- Directly extends </a:t>
            </a:r>
            <a:r>
              <a:rPr dirty="0" err="1"/>
              <a:t>SustainGym</a:t>
            </a:r>
            <a:r>
              <a:rPr dirty="0"/>
              <a:t> (</a:t>
            </a:r>
            <a:r>
              <a:rPr dirty="0" err="1"/>
              <a:t>NeurIPS</a:t>
            </a:r>
            <a:r>
              <a:rPr dirty="0"/>
              <a:t> 2023)</a:t>
            </a:r>
            <a:br>
              <a:rPr dirty="0"/>
            </a:br>
            <a:r>
              <a:rPr dirty="0"/>
              <a:t>- 735+ training runs already done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8739" y="5052367"/>
            <a:ext cx="4114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78739" y="5052367"/>
            <a:ext cx="64008" cy="1188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61619" y="5116375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1619" y="5362772"/>
            <a:ext cx="3794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rPr dirty="0"/>
              <a:t>- 6 pages tight for 3 axes</a:t>
            </a:r>
            <a:br>
              <a:rPr dirty="0"/>
            </a:br>
            <a:r>
              <a:rPr dirty="0"/>
              <a:t>- 'Broad but shallow' concern</a:t>
            </a:r>
            <a:br>
              <a:rPr dirty="0"/>
            </a:br>
            <a:r>
              <a:rPr dirty="0"/>
              <a:t>- Needs non-RL baselines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6FE4DD-397A-C195-7D25-896C90880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>
            <a:extLst>
              <a:ext uri="{FF2B5EF4-FFF2-40B4-BE49-F238E27FC236}">
                <a16:creationId xmlns:a16="http://schemas.microsoft.com/office/drawing/2014/main" id="{C91C4EBE-CF45-BFB5-8222-3E27E0FE1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D210A8-2104-0D37-B2D1-BED68D16D941}"/>
              </a:ext>
            </a:extLst>
          </p:cNvPr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Possible Paper Titles &amp; Main Stories (1/2)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70C93B-BCFE-8A1D-FC53-F1C284E10C39}"/>
              </a:ext>
            </a:extLst>
          </p:cNvPr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3A54EB-AABC-6BC2-1BDC-F7D387F5F6C8}"/>
              </a:ext>
            </a:extLst>
          </p:cNvPr>
          <p:cNvSpPr txBox="1"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</a:defRPr>
            </a:pPr>
            <a:r>
              <a:t>Which framing gives us the strongest SmartGridComm paper? Key insights from our experiments below.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83FE094-C430-F020-D4D4-3FB668AE2D0E}"/>
              </a:ext>
            </a:extLst>
          </p:cNvPr>
          <p:cNvSpPr/>
          <p:nvPr/>
        </p:nvSpPr>
        <p:spPr>
          <a:xfrm>
            <a:off x="521208" y="1644693"/>
            <a:ext cx="100584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OPTION 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5101E0-F57A-9018-90B2-D8DCB8E7DB01}"/>
              </a:ext>
            </a:extLst>
          </p:cNvPr>
          <p:cNvSpPr txBox="1"/>
          <p:nvPr/>
        </p:nvSpPr>
        <p:spPr>
          <a:xfrm>
            <a:off x="521206" y="2163876"/>
            <a:ext cx="11402813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ACC"/>
                </a:solidFill>
              </a:defRPr>
            </a:pPr>
            <a:r>
              <a:rPr dirty="0"/>
              <a:t>"How Robust is Energy RL? Decomposing Observation, Action,</a:t>
            </a:r>
            <a:r>
              <a:rPr lang="en-US" dirty="0"/>
              <a:t> </a:t>
            </a:r>
            <a:r>
              <a:rPr dirty="0"/>
              <a:t>and Environment Noise Across Sustainable Energy Domains"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9C619EF-D3C7-FF49-665F-CCDA9D45EBF8}"/>
              </a:ext>
            </a:extLst>
          </p:cNvPr>
          <p:cNvSpPr txBox="1"/>
          <p:nvPr/>
        </p:nvSpPr>
        <p:spPr>
          <a:xfrm>
            <a:off x="521207" y="2621076"/>
            <a:ext cx="1043931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rPr dirty="0"/>
              <a:t>Main Story: We introduce a structured noise decomposition framework for energy RL that independently varies observation, action, and environment noise across three </a:t>
            </a:r>
            <a:r>
              <a:rPr dirty="0" err="1"/>
              <a:t>SustainGym</a:t>
            </a:r>
            <a:r>
              <a:rPr dirty="0"/>
              <a:t> domains. Our data reveals a striking asymmetry: in Building HVAC, observation noise is catastrophic (53% loss at sigma=0.10, 256% at 0.40) while action noise has &lt;5% impact across all levels — a finding with direct implications for sensor investment vs. actuator precision. In EV charging, the relationship inverts: moderate observation noise (sigma=0.05-0.10) produces a 69-116% performance improvement, suggesting that noise acts as implicit regularization for the 54-dimensional pilot signal coordination. In Cogeneration, environment noise (ONNX model uncertainty up to 3x) shows negligible reward impact, indicating the surrogate model's dynamics are locally flat. We also find a non-monotonic pattern at low noise (sigma=0.01 improves Building PPO by 22% over clean baseline), challenging the assumption that any noise is harmful. SAC outperforms PPO at baseline (-22.81 vs -30.99 in Building) but shows similar degradation slopes, suggesting robustness is architecture-independent. This framing has the strongest methodological novelty and is the most actionable for practitioners deploying RL in real energy systems.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FC9D9E8-BF9B-7903-851A-5A394E60558B}"/>
              </a:ext>
            </a:extLst>
          </p:cNvPr>
          <p:cNvSpPr/>
          <p:nvPr/>
        </p:nvSpPr>
        <p:spPr>
          <a:xfrm>
            <a:off x="586075" y="4882896"/>
            <a:ext cx="4114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58148F-2BBD-41CC-02F6-07A94EF86AAE}"/>
              </a:ext>
            </a:extLst>
          </p:cNvPr>
          <p:cNvSpPr/>
          <p:nvPr/>
        </p:nvSpPr>
        <p:spPr>
          <a:xfrm>
            <a:off x="586075" y="4882896"/>
            <a:ext cx="64008" cy="118872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77C007A-6D41-BFF5-C49C-ED1AB494A6F4}"/>
              </a:ext>
            </a:extLst>
          </p:cNvPr>
          <p:cNvSpPr txBox="1"/>
          <p:nvPr/>
        </p:nvSpPr>
        <p:spPr>
          <a:xfrm>
            <a:off x="768955" y="495604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t>Strengths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F05B44-01F7-98BD-7B36-A0ED9D412531}"/>
              </a:ext>
            </a:extLst>
          </p:cNvPr>
          <p:cNvSpPr txBox="1"/>
          <p:nvPr/>
        </p:nvSpPr>
        <p:spPr>
          <a:xfrm>
            <a:off x="768955" y="5202936"/>
            <a:ext cx="3794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- Strongest methodology novelty</a:t>
            </a:r>
            <a:br/>
            <a:r>
              <a:t>- Counter-intuitive findings (noise helps)</a:t>
            </a:r>
            <a:br/>
            <a:r>
              <a:t>- Most actionable for practitioners</a:t>
            </a:r>
            <a:br/>
            <a:r>
              <a:t>- Data-rich: 10+ noise levels x 3 envs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7F23B1F-2433-C1C3-BC0D-444708196B21}"/>
              </a:ext>
            </a:extLst>
          </p:cNvPr>
          <p:cNvSpPr/>
          <p:nvPr/>
        </p:nvSpPr>
        <p:spPr>
          <a:xfrm>
            <a:off x="5756148" y="4882896"/>
            <a:ext cx="41148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0C07833-05C6-800B-1000-1201454235EB}"/>
              </a:ext>
            </a:extLst>
          </p:cNvPr>
          <p:cNvSpPr/>
          <p:nvPr/>
        </p:nvSpPr>
        <p:spPr>
          <a:xfrm>
            <a:off x="5756148" y="4882896"/>
            <a:ext cx="64008" cy="11887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207FCA-1E88-D9C4-0C6E-D78BA2E5EFC2}"/>
              </a:ext>
            </a:extLst>
          </p:cNvPr>
          <p:cNvSpPr txBox="1"/>
          <p:nvPr/>
        </p:nvSpPr>
        <p:spPr>
          <a:xfrm>
            <a:off x="5939028" y="4932544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rPr dirty="0"/>
              <a:t>Risks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BEF92A-D4E4-20B2-A30E-520D1831D9C1}"/>
              </a:ext>
            </a:extLst>
          </p:cNvPr>
          <p:cNvSpPr txBox="1"/>
          <p:nvPr/>
        </p:nvSpPr>
        <p:spPr>
          <a:xfrm>
            <a:off x="5939028" y="5202936"/>
            <a:ext cx="3794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rPr dirty="0"/>
              <a:t>- Drops safe RL &amp; MARL axes</a:t>
            </a:r>
            <a:br>
              <a:rPr dirty="0"/>
            </a:br>
            <a:r>
              <a:rPr dirty="0"/>
              <a:t>- Needs complete env noise sweeps</a:t>
            </a:r>
            <a:br>
              <a:rPr dirty="0"/>
            </a:br>
            <a:r>
              <a:rPr dirty="0"/>
              <a:t>- Building-heavy data, others thinner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89C03B-F469-91C7-65FC-C283689CCCCB}"/>
              </a:ext>
            </a:extLst>
          </p:cNvPr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11/17</a:t>
            </a:r>
          </a:p>
        </p:txBody>
      </p:sp>
    </p:spTree>
    <p:extLst>
      <p:ext uri="{BB962C8B-B14F-4D97-AF65-F5344CB8AC3E}">
        <p14:creationId xmlns:p14="http://schemas.microsoft.com/office/powerpoint/2010/main" val="2053743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61AA1B-D5FE-B87B-2375-1327A8409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>
            <a:extLst>
              <a:ext uri="{FF2B5EF4-FFF2-40B4-BE49-F238E27FC236}">
                <a16:creationId xmlns:a16="http://schemas.microsoft.com/office/drawing/2014/main" id="{D500E31E-7952-F5FB-2A62-195C20A46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F26B202-B470-2505-6E80-13642CB8FDE6}"/>
              </a:ext>
            </a:extLst>
          </p:cNvPr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Possible Paper Titles &amp; Main Stories (2/2)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B2A9A4-1099-89B7-10E6-81957092F75D}"/>
              </a:ext>
            </a:extLst>
          </p:cNvPr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8AB719-DCCC-C2CA-7CFB-19B1049B1531}"/>
              </a:ext>
            </a:extLst>
          </p:cNvPr>
          <p:cNvSpPr/>
          <p:nvPr/>
        </p:nvSpPr>
        <p:spPr>
          <a:xfrm>
            <a:off x="457200" y="1188720"/>
            <a:ext cx="100584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OPTION 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1CC600-74E3-E546-8468-FD3946C40FD6}"/>
              </a:ext>
            </a:extLst>
          </p:cNvPr>
          <p:cNvSpPr txBox="1"/>
          <p:nvPr/>
        </p:nvSpPr>
        <p:spPr>
          <a:xfrm>
            <a:off x="445386" y="1716062"/>
            <a:ext cx="1085926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7722"/>
                </a:solidFill>
              </a:defRPr>
            </a:pPr>
            <a:r>
              <a:rPr dirty="0"/>
              <a:t>"Safe Reinforcement Learning for Sustainable Energy Systems:</a:t>
            </a:r>
            <a:r>
              <a:rPr lang="en-US" dirty="0"/>
              <a:t> </a:t>
            </a:r>
            <a:r>
              <a:rPr dirty="0"/>
              <a:t>A Constrained Optimization Benchmark Across Three Domains"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E2714D-1957-2210-D375-19D71DCE1986}"/>
              </a:ext>
            </a:extLst>
          </p:cNvPr>
          <p:cNvSpPr txBox="1"/>
          <p:nvPr/>
        </p:nvSpPr>
        <p:spPr>
          <a:xfrm>
            <a:off x="457200" y="2057400"/>
            <a:ext cx="1090836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Story: We present the first CMDP-based safe RL benchmark for energy systems, evaluating five algorithms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PPOLag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CPO,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OnCRPO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FOCOPS,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SACLag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across EV charging, building HVAC, and cogeneration with domain-specific cost signals. Our 177 safe RL experiments reveal a rich performance-safety landscape: on EV charging, IPO can achieve near-perfect constraint satisfaction (cost ~ 10^-33) with strong reward (&gt;9.0), but exhibits extreme seed sensitivity (100x cost variance), while CPO provides more consistent tradeoffs (reward 5.02 +/- 1.12, cost 7.97 +/- 5.79 under tight constraints). On Building,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SACLag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achieves zero constraint cost but at severe reward penalty (-537 vs -22.81 unconstrained SAC), revealing that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Lagrangian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off-policy methods can be overly conservative when energy and comfort objectives are orthogonal. PCPO shows the best balance on Building with stable cost (~3.0) across 5 seeds. The Pareto frontiers across four cost limits (1, 5, 25, 1000) demonstrate that constraint tightness interacts differently with each algorithm family — a finding absent from the robotics-focused safe RL literature. This framing offers the cleanest novelty claim (no prior CMDP benchmarks for EV/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cogen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the deepest analysis possible within 6 pages.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51BB5D8-92BA-A50F-113F-154A672FB794}"/>
              </a:ext>
            </a:extLst>
          </p:cNvPr>
          <p:cNvSpPr/>
          <p:nvPr/>
        </p:nvSpPr>
        <p:spPr>
          <a:xfrm>
            <a:off x="543117" y="4572000"/>
            <a:ext cx="41148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414E56-BCE5-B33A-5F26-F6CB8CD7C115}"/>
              </a:ext>
            </a:extLst>
          </p:cNvPr>
          <p:cNvSpPr/>
          <p:nvPr/>
        </p:nvSpPr>
        <p:spPr>
          <a:xfrm>
            <a:off x="543117" y="4572000"/>
            <a:ext cx="64008" cy="128016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0D3D6E-2337-C285-D40F-805B22DC787B}"/>
              </a:ext>
            </a:extLst>
          </p:cNvPr>
          <p:cNvSpPr txBox="1"/>
          <p:nvPr/>
        </p:nvSpPr>
        <p:spPr>
          <a:xfrm>
            <a:off x="725997" y="4645152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A043"/>
                </a:solidFill>
              </a:defRPr>
            </a:pPr>
            <a:r>
              <a:rPr dirty="0"/>
              <a:t>Strengths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016C7F-95DD-F2E0-830D-9F07C139A187}"/>
              </a:ext>
            </a:extLst>
          </p:cNvPr>
          <p:cNvSpPr txBox="1"/>
          <p:nvPr/>
        </p:nvSpPr>
        <p:spPr>
          <a:xfrm>
            <a:off x="725997" y="4956048"/>
            <a:ext cx="3794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rPr dirty="0"/>
              <a:t>- Cleanest novelty (first for EV/</a:t>
            </a:r>
            <a:r>
              <a:rPr dirty="0" err="1"/>
              <a:t>cogen</a:t>
            </a:r>
            <a:r>
              <a:rPr dirty="0"/>
              <a:t>)</a:t>
            </a:r>
            <a:br>
              <a:rPr dirty="0"/>
            </a:br>
            <a:r>
              <a:rPr dirty="0"/>
              <a:t>- 177 experiments = statistical depth</a:t>
            </a:r>
            <a:br>
              <a:rPr dirty="0"/>
            </a:br>
            <a:r>
              <a:rPr dirty="0"/>
              <a:t>- Pareto analysis is visually compelling</a:t>
            </a:r>
            <a:br>
              <a:rPr dirty="0"/>
            </a:br>
            <a:r>
              <a:rPr dirty="0"/>
              <a:t>- Deep 6-page treatment possible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E010BEB-1B61-0C7A-D149-E3017FF665B7}"/>
              </a:ext>
            </a:extLst>
          </p:cNvPr>
          <p:cNvSpPr/>
          <p:nvPr/>
        </p:nvSpPr>
        <p:spPr>
          <a:xfrm>
            <a:off x="5692140" y="4572000"/>
            <a:ext cx="4114800" cy="1316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65CCBC-CE11-79E4-D392-A9A3E0BB21CD}"/>
              </a:ext>
            </a:extLst>
          </p:cNvPr>
          <p:cNvSpPr/>
          <p:nvPr/>
        </p:nvSpPr>
        <p:spPr>
          <a:xfrm>
            <a:off x="5692140" y="4572000"/>
            <a:ext cx="64008" cy="131673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43560D-67A3-E895-9E1C-36E0517E5AD0}"/>
              </a:ext>
            </a:extLst>
          </p:cNvPr>
          <p:cNvSpPr txBox="1"/>
          <p:nvPr/>
        </p:nvSpPr>
        <p:spPr>
          <a:xfrm>
            <a:off x="5875020" y="4690872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A500"/>
                </a:solidFill>
              </a:defRPr>
            </a:pPr>
            <a:r>
              <a:t>Risks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7DA634-3C2A-A119-F824-896F822057AE}"/>
              </a:ext>
            </a:extLst>
          </p:cNvPr>
          <p:cNvSpPr txBox="1"/>
          <p:nvPr/>
        </p:nvSpPr>
        <p:spPr>
          <a:xfrm>
            <a:off x="5875020" y="5001768"/>
            <a:ext cx="3794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- Drops noise + MARL axes</a:t>
            </a:r>
            <a:br/>
            <a:r>
              <a:t>- Cogen safe RL has scaling issues</a:t>
            </a:r>
            <a:br/>
            <a:r>
              <a:t>- Reviewers may want robustness too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9F8FFD-BA62-61FD-9EEE-80CE9AB75D96}"/>
              </a:ext>
            </a:extLst>
          </p:cNvPr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12/17</a:t>
            </a:r>
          </a:p>
        </p:txBody>
      </p:sp>
    </p:spTree>
    <p:extLst>
      <p:ext uri="{BB962C8B-B14F-4D97-AF65-F5344CB8AC3E}">
        <p14:creationId xmlns:p14="http://schemas.microsoft.com/office/powerpoint/2010/main" val="726910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Preliminary Abstract Drafts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005840" cy="320040"/>
          </a:xfrm>
          <a:prstGeom prst="round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OPTION 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0200" y="1188720"/>
            <a:ext cx="1463040" cy="320040"/>
          </a:xfrm>
          <a:prstGeom prst="round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RECOMMENDED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7043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61F41"/>
                </a:solidFill>
              </a:defRPr>
            </a:pPr>
            <a:r>
              <a:t>SustainRL-Bench: A Multi-Paradigm Benchmark for RL in Sustainable Energy Systems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45920"/>
            <a:ext cx="11247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69848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lang="en-US" dirty="0"/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(RL) is increasingly applied to energy system control, yet evaluations remain fragmented across isolated environments, algorithm families, and operational settings. We present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SustainRL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-Bench, the first benchmark that systematically evaluates standard RL (PPO, SAC, TD3), constrained safe RL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PPOLag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CPO,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OnCRPO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FOCOPS,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SACLag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and cooperative multi-agent RL across three diverse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SustainGym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energy domains: electric vehicle charging (54-station network), building HVAC (multi-zone RC thermal model), and cogeneration plant dispatch (ONNX surrogate with three gas turbines). Our evaluation protocol introduces a structured noise decomposition framework that independently varies observation, action, and environment uncertainty to assess deployment robustness.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735+ training runs spanning 10+ noise levels, 5 safe RL algorithms at 4 constraint tightness levels, and 3 multi-agent decompositions, we uncover several findings that challenge prevailing assumptions: (1) noise vulnerability is channel- and domain-specific — building HVAC policies degrade by 256% under observation noise but remain stable (&lt;5% variance) under action noise, while EV charging policies counter-intuitively improve by 69-116% under moderate observation noise due to implicit regularization; (2) safe RL algorithms exhibit a 100x cost variance across seeds on identical configurations, with interior-point methods achieving near-zero constraint violation in some runs but diverging in others; (3) low-level noise (sigma=0.01) can improve over clean baselines by 22%, revealing non-monotonic robustness profiles. These findings provide actionable guidance for practitioners selecting RL paradigms and noise mitigation strategies for energy system deployment. We release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SustainRL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-Bench as an open-source benchmark suite.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~230 words  |  Key selling points: breadth (3x3x3), counter-intuitive noise findings, safe RL seed variance, non-monotonic robustness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13/17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Preliminary Abstract Drafts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005840" cy="32004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OPTION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70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</a:defRPr>
            </a:pPr>
            <a:r>
              <a:t>How Robust is Energy RL? Decomposing Noise Across Sustainable Energy Domains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44206"/>
            <a:ext cx="1078992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reinforcement learning has demonstrated promising results for energy system control, yet the robustness of learned policies under realistic deployment uncertainty remains poorly understood. We introduce a structured noise decomposition framework that independently characterizes policy sensitivity along three orthogonal channels — observation noise (sensor uncertainty), action noise (actuator imprecision), and environment noise (sim-to-real dynamics gap) — across three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SustainGym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energy domains: electric vehicle charging, building HVAC, and cogeneration.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analysis across PPO, SAC, and TD3 at 10+ noise levels per environment reveals that noise vulnerability profiles are strikingly domain-specific and asymmetric across channels. In building HVAC, observation noise causes catastrophic degradation (53% at sigma=0.10, 256% at sigma=0.40), while action noise has negligible impact (&lt;5% variance from sigma=0.0 to 0.40) — implying that sensor accuracy, not actuator precision, should be the investment priority for HVAC deployment. In EV charging, we observe the opposite: moderate observation noise improves policy performance by 69-116%, acting as implicit regularization for the 54-dimensional coordination problem. In cogeneration, environment noise up to 3x baseline (including 45% ONNX model output perturbation) produces minimal reward impact, indicating robust local dynamics. We further identify a non-monotonic pattern: noise at sigma=0.01 improves Building PPO by 22% over the clean baseline, suggesting that optimal deployment may require deliberate noise injection. SAC consistently outperforms PPO at baseline but shows comparable degradation slopes, indicating that robustness is architecture-independent. Our findings provide the first channel-specific noise sensitivity map for energy RL and offer concrete deployment guidelines for practitioners.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~250 words  |  Key selling points: noise-as-regularization discovery, asymmetric channel vulnerability, non-monotonic profiles, practitioner deployment guidelines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14/17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Preliminary Abstract Drafts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1005840" cy="32004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OPTION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170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722"/>
                </a:solidFill>
              </a:defRPr>
            </a:pPr>
            <a:r>
              <a:t>Safe RL for Sustainable Energy: A Constrained Optimization Benchmark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45920"/>
            <a:ext cx="1124712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038068"/>
            <a:ext cx="1078992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controllers for energy systems must satisfy hard operational constraints — network capacity limits in EV charging, thermal comfort bounds in buildings, and equipment safety envelopes in cogeneration plants — yet most RL benchmarks optimize reward without explicit constraint handling. We present the first systematic constrained RL benchmark for sustainable energy systems, formulating each of three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SustainGym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environments as a Constrained Markov Decision Process (CMDP) with physically motivated cost signals: excess charging violations scaled by network capacity (EV), energy consumption orthogonal to the comfort objective (Building), and dynamic equipment constraint violations plus supply non-delivery (Cogeneration).</a:t>
            </a: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evaluate five safe RL algorithms —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PPOLag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CPO,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OnCRPO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FOCOPS, and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SACLag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across four constraint tightness levels (cost limits 1, 5, 25, 1000) totaling 177 training runs. Our results reveal that the reward-safety Pareto landscape varies dramatically across domains and algorithms: interior-point methods (IPO) achieve near-perfect constraint satisfaction (cost ~ 10^-33) on EV charging with competitive reward (&gt;9.0) in favorable runs, but exhibit extreme instability (100x cost variance across seeds); projection-based methods (PCPO) provide the most stable tradeoffs on Building with consistent cost (~3.0 +/- 0.05 across 5 seeds); while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Lagrangian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off-policy methods (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SACLag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can become overly conservative, achieving zero cost at 24x reward penalty on Building. Under loose constraints (limit=1000),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Lagrangian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multiplier explosion degrades all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Lagrangian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methods without explicit upper bounding. These findings demonstrate that safe RL is viable for energy systems but requires careful algorithm selection matched to domain-specific constraint structures.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~240 words  |  Key selling points: first CMDP for EV/cogen, seed variance as finding, Lagrangian instability insight, projection vs. interior-point tradeoff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15/17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61F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4. VT PEC Annual Conference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87722"/>
                </a:solidFill>
              </a:defRPr>
            </a:pPr>
            <a:r>
              <a:t>Group Presentation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06240"/>
            <a:ext cx="22860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16/17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rizontal_VT_Maroon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37160"/>
            <a:ext cx="2659809" cy="5029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82880"/>
            <a:ext cx="12191695" cy="77724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VT PEC Annual Conference — Group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1F41"/>
                </a:solidFill>
              </a:defRPr>
            </a:pPr>
            <a:r>
              <a:t>Virginia Tech Power &amp; Energy Center (PEC) Annual Conference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333333"/>
                </a:solidFill>
              </a:defRPr>
            </a:pPr>
            <a:r>
              <a:t>Our research group needs to present at this year's PEC Annual Conference.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64008" cy="20116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45059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</a:defRPr>
            </a:pPr>
            <a:r>
              <a:t>Current Situation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61488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- We need at least one presentation from our group (RoleLab)</a:t>
            </a:r>
            <a:br/>
            <a:r>
              <a:t>- The PEC conference is an important venue for visibility within VT</a:t>
            </a:r>
            <a:br/>
            <a:r>
              <a:t>- Good opportunity to showcase our RL-for-energy research</a:t>
            </a:r>
            <a:br/>
            <a:r>
              <a:t>- My SustainRL-Bench work could be a strong candidate for this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53035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2377440"/>
            <a:ext cx="64008" cy="2011680"/>
          </a:xfrm>
          <a:prstGeom prst="rect">
            <a:avLst/>
          </a:prstGeom>
          <a:solidFill>
            <a:srgbClr val="861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450592"/>
            <a:ext cx="4983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61F41"/>
                </a:solidFill>
              </a:defRPr>
            </a:pPr>
            <a:r>
              <a:t>What I Need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61488"/>
            <a:ext cx="4983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</a:defRPr>
            </a:pPr>
            <a:r>
              <a:t>- Guidance on the presentation format &amp; requirements</a:t>
            </a:r>
            <a:br/>
            <a:r>
              <a:t>- Help deciding what to present (thesis work? SmartGridComm subset?)</a:t>
            </a:r>
            <a:br/>
            <a:r>
              <a:t>- Feedback on whether the timing works with my other deadlines</a:t>
            </a:r>
            <a:br/>
            <a:r>
              <a:t>- Any coordination needed with other group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61F41"/>
                </a:solidFill>
              </a:defRPr>
            </a:pPr>
            <a:r>
              <a:t>Action Items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120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Confirm whether I should prepare the group presentation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Get details on PEC conference date, format, and abstract deadline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Discuss scope: full thesis overview vs. focused SmartGridComm results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</a:rPr>
              <a:t>Coordinate with other RoleLab members if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</a:defRPr>
            </a:pPr>
            <a: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3229</Words>
  <Application>Microsoft Office PowerPoint</Application>
  <PresentationFormat>Widescreen</PresentationFormat>
  <Paragraphs>208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Koruturk, Mehmet</cp:lastModifiedBy>
  <cp:revision>9</cp:revision>
  <dcterms:created xsi:type="dcterms:W3CDTF">2013-01-27T09:14:16Z</dcterms:created>
  <dcterms:modified xsi:type="dcterms:W3CDTF">2026-03-08T22:52:58Z</dcterms:modified>
  <cp:category/>
</cp:coreProperties>
</file>