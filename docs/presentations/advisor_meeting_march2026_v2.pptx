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6" d="100"/>
          <a:sy n="156" d="100"/>
        </p:scale>
        <p:origin x="192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Advisor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CCCCC"/>
                </a:solidFill>
              </a:defRPr>
            </a:pPr>
            <a:r>
              <a:t>Mehmet Koruturk  &amp;  Prof. Ming Jin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27432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Virginia Tech — RoleLab  |  March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2468880" cy="6400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1. PhD Applications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4572000"/>
            <a:ext cx="2468880" cy="64008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2. Master's Thesis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572000"/>
            <a:ext cx="2468880" cy="64008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3. SmartGridComm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4572000"/>
            <a:ext cx="2468880" cy="640080"/>
          </a:xfrm>
          <a:prstGeom prst="round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4. VT PEC Conference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CC"/>
                </a:solidFill>
              </a:defRPr>
            </a:pPr>
            <a:r>
              <a:t>PhD Application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783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TAMU acceptance, MIT/CMU decisions, JHU pending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06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A043"/>
                </a:solidFill>
              </a:defRPr>
            </a:pPr>
            <a:r>
              <a:t>Master's Thesis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017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SustainRL-Bench: project overview, experiments, timeline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7722"/>
                </a:solidFill>
              </a:defRPr>
            </a:pPr>
            <a:r>
              <a:t>SmartGridComm 2026 Paper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51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Current status, novelty, contributions, next steps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120640"/>
            <a:ext cx="502920" cy="502920"/>
          </a:xfrm>
          <a:prstGeom prst="ellipse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074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61F41"/>
                </a:solidFill>
              </a:defRPr>
            </a:pPr>
            <a:r>
              <a:t>VT PEC Annual Conference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Group presentation need and help 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1F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1. PhD Application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7722"/>
                </a:solidFill>
              </a:defRPr>
            </a:pPr>
            <a:r>
              <a:t>Fall 2026 Admissions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06240"/>
            <a:ext cx="22860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PhD Application Status — Fall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64008" cy="14630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A043"/>
                </a:solidFill>
              </a:defRPr>
            </a:pPr>
            <a:r>
              <a:t>Texas A&amp;M University (TAMU)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Accepted to PhD program!</a:t>
            </a:r>
            <a:br/>
            <a:r>
              <a:t>Department: Electrical &amp; Computer Engineering</a:t>
            </a:r>
            <a:br/>
            <a:r>
              <a:t>This is currently our strongest option.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417320"/>
            <a:ext cx="1280160" cy="3200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ACCEPTED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08960"/>
            <a:ext cx="5303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3108960"/>
            <a:ext cx="64008" cy="100584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18211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3333"/>
                </a:solidFill>
              </a:defRPr>
            </a:pPr>
            <a:r>
              <a:t>Massachusetts Institute of Technology (MIT)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93008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Application was not successful.</a:t>
            </a:r>
            <a:br/>
            <a:r>
              <a:t>Result: Rejected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154680"/>
            <a:ext cx="1280160" cy="32004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REJECTED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108960"/>
            <a:ext cx="5303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108960"/>
            <a:ext cx="64008" cy="100584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18211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3333"/>
                </a:solidFill>
              </a:defRPr>
            </a:pPr>
            <a:r>
              <a:t>Carnegie Mellon University (CMU)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93008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Application was not successful.</a:t>
            </a:r>
            <a:br/>
            <a:r>
              <a:t>Result: Rejected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32720" y="3154680"/>
            <a:ext cx="1280160" cy="32004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REJECTED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371600"/>
            <a:ext cx="53035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64008" cy="1463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144475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</a:defRPr>
            </a:pPr>
            <a:r>
              <a:t>Johns Hopkins University (JHU)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755648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Decision still pending.</a:t>
            </a:r>
            <a:br/>
            <a:r>
              <a:t>Expecting to hear back soon.</a:t>
            </a:r>
            <a:br/>
            <a:r>
              <a:t>Will update as soon as result arrives.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1417320"/>
            <a:ext cx="1280160" cy="32004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PENDING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61F41"/>
                </a:solidFill>
              </a:defRPr>
            </a:pPr>
            <a:r>
              <a:t>Next Steps: Waiting on JHU decision. Will evaluate offers once all results are 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120640"/>
            <a:ext cx="10972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5120640"/>
            <a:ext cx="64008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193792"/>
            <a:ext cx="10652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Discussion Points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504688"/>
            <a:ext cx="10652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- Would appreciate your advice on comparing programs</a:t>
            </a:r>
            <a:br/>
            <a:r>
              <a:t>- TAMU vs. JHU (if accepted): research fit, advisor match, funding</a:t>
            </a:r>
            <a:br/>
            <a:r>
              <a:t>- Any connections or recommendations for the TAMU ECE department?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1F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2. Master's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7722"/>
                </a:solidFill>
              </a:defRPr>
            </a:pPr>
            <a:r>
              <a:t>SustainRL-Bench: RL Benchmark on SustainGym Environments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06240"/>
            <a:ext cx="22860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SustainRL-Bench — 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66666"/>
                </a:solidFill>
              </a:defRPr>
            </a:pPr>
            <a:r>
              <a:t>Benchmarking RL algorithms on three SustainGym energy environments across three experimental axes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64008" cy="14630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A043"/>
                </a:solidFill>
              </a:defRPr>
            </a:pPr>
            <a:r>
              <a:t>EV Charging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21408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ACN-Data / Caltech</a:t>
            </a:r>
            <a:br/>
            <a:r>
              <a:t>54 stations, 288 timesteps</a:t>
            </a:r>
            <a:br/>
            <a:r>
              <a:t>Profit - Carbon - Excess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373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737360"/>
            <a:ext cx="64008" cy="1463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8105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Building HVAC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21408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EnergyPlus RC Model</a:t>
            </a:r>
            <a:br/>
            <a:r>
              <a:t>Multi-zone thermal control</a:t>
            </a:r>
            <a:br/>
            <a:r>
              <a:t>Comfort vs Energy tradeoff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7373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737360"/>
            <a:ext cx="64008" cy="14630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8105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7722"/>
                </a:solidFill>
              </a:defRPr>
            </a:pPr>
            <a:r>
              <a:t>Cogeneration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21408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ONNX Surrogate Plant</a:t>
            </a:r>
            <a:br/>
            <a:r>
              <a:t>3 Gas Turbines + Steam</a:t>
            </a:r>
            <a:br/>
            <a:r>
              <a:t>Fuel - Ramp - Violations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61F41"/>
                </a:solidFill>
              </a:defRPr>
            </a:pPr>
            <a:r>
              <a:t>Three Experimental Axes: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64008" cy="155448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00507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61F41"/>
                </a:solidFill>
              </a:defRPr>
            </a:pPr>
            <a:r>
              <a:t>Noise Robustness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15968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Observation / Action / Environment</a:t>
            </a:r>
            <a:br/>
            <a:r>
              <a:t>noise decomposition across</a:t>
            </a:r>
            <a:br/>
            <a:r>
              <a:t>10+ noise levels per env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93192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97680" y="3931920"/>
            <a:ext cx="64008" cy="15544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0560" y="400507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Safe RL (CMDP)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315968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PPOLag, CPO, OnCRPO, FOCOPS,</a:t>
            </a:r>
            <a:br/>
            <a:r>
              <a:t>SACLag via OmniSafe framework</a:t>
            </a:r>
            <a:br/>
            <a:r>
              <a:t>4 cost limits tested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93192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38160" y="3931920"/>
            <a:ext cx="64008" cy="155448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0" y="400507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A043"/>
                </a:solidFill>
              </a:defRPr>
            </a:pPr>
            <a:r>
              <a:t>Multi-Agent RL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315968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PettingZoo ParallelEnv + Ray RLlib</a:t>
            </a:r>
            <a:br/>
            <a:r>
              <a:t>Per-component agent decomposition</a:t>
            </a:r>
            <a:br/>
            <a:r>
              <a:t>Shared reward 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Algorithms:  PPO  |  SAC  |  TD3  (SB3)    +    PPOLag / CPO / OnCRPO / FOCOPS / SACLag  (OmniSafe)    +    APPO / SAC / PPO  (RLlib)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Thesis — Current Status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61F41"/>
                </a:solidFill>
              </a:defRPr>
            </a:pPr>
            <a:r>
              <a:t>Experiment Completion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  Standard RL Training (PPO/SAC/TD3)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38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     All 3 envs: noise sweeps complete (obs, action, env)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691640"/>
            <a:ext cx="1280160" cy="3200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  Safe RL (OmniSafe)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157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     5 algos x 3 envs x 4 cost limits = 60 runs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2468880"/>
            <a:ext cx="1280160" cy="3200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  Multi-Agent RL (RLlib)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9300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     EV: APPO | Building: SAC | Cogen: PPO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3246120"/>
            <a:ext cx="1280160" cy="3200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776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  Model Testing &amp;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702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     Robustness testing across noise conditions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023360"/>
            <a:ext cx="1280160" cy="32004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 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  Results Analysis &amp; Plots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4748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     Training curves, bar charts, heatmaps, Pareto fronts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4800600"/>
            <a:ext cx="1280160" cy="32004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 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61F41"/>
                </a:solidFill>
              </a:defRPr>
            </a:pPr>
            <a:r>
              <a:t>Thesis Writing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6692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Ch.1 Introduction — drafted (research questions, objectives)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Ch.2 Literature Review — drafted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Ch.3 Preliminaries — drafted (MDP, algorithms, CMDP)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Ch.4 Methodology — drafted (SustainRL-Bench framework)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Ch.5 Results &amp; Ch.6 Conclusion — pending final experiments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118872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412480" y="1188720"/>
            <a:ext cx="64008" cy="32004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60" y="126187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61F41"/>
                </a:solidFill>
              </a:defRPr>
            </a:pPr>
            <a:r>
              <a:t>Plan &amp; Timeline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1572768"/>
            <a:ext cx="3154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1. Complete remaining experiments (testing)</a:t>
            </a:r>
            <a:br/>
            <a:r>
              <a:t>2. Finalize results analysis &amp; generate all figures</a:t>
            </a:r>
            <a:br/>
            <a:r>
              <a:t>3. Write Ch.5 (Results) &amp; Ch.6 (Conclusion)</a:t>
            </a:r>
            <a:br/>
            <a:r>
              <a:t>4. Full document review &amp; polish</a:t>
            </a:r>
            <a:br/>
            <a:r>
              <a:t>5. Send to Prof. Jin for review</a:t>
            </a:r>
            <a:br/>
            <a:br/>
            <a:r>
              <a:t>Goal: Submit complete draft for your review ASAP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475488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412480" y="4754880"/>
            <a:ext cx="64008" cy="1828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95360" y="482803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Key Message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5138928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Experiments are largely complete.</a:t>
            </a:r>
            <a:br/>
            <a:r>
              <a:t>Will finish writing and send the full</a:t>
            </a:r>
            <a:br/>
            <a:r>
              <a:t>thesis draft to you for review and</a:t>
            </a:r>
            <a:br/>
            <a:r>
              <a:t>feedback as soon as possible.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1F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3. SmartGridComm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7722"/>
                </a:solidFill>
              </a:defRPr>
            </a:pPr>
            <a:r>
              <a:t>IEEE SmartGridComm  |  Deadline: June 19,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06240"/>
            <a:ext cx="22860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SmartGridComm 2026 — Paper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Target: IEEE SmartGridComm 2026  |  Deadline: June 19, 2026  |  Format: 6 pages IEEE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61F41"/>
                </a:solidFill>
              </a:defRPr>
            </a:pPr>
            <a:r>
              <a:t>Paper Preparation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  Experimental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591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     Complete — all training scripts, envs, SLURM pipelines 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121408"/>
            <a:ext cx="1280160" cy="3200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  Standard RL Experiments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4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     All 3 algos x 3 envs x noise sweeps trained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807208"/>
            <a:ext cx="1280160" cy="3200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  Safe RL Experiments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307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     OmniSafe: 5 algos x 3 envs x 4 cost limits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493008"/>
            <a:ext cx="1280160" cy="3200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60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  MARL Experiments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165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     Ray RLlib: per-env agent decomposition trained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178808"/>
            <a:ext cx="1280160" cy="3200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  Non-RL Baselines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1023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     Rule-based &amp; optimization baselines needed for comparison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864608"/>
            <a:ext cx="1280160" cy="32004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TODO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32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  Paper Writing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7881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     Outline ready, need to draft 6-page manuscript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5550408"/>
            <a:ext cx="1280160" cy="32004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 PROGRESS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2103120"/>
            <a:ext cx="2286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601200" y="2103120"/>
            <a:ext cx="64008" cy="18288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84080" y="217627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3333"/>
                </a:solidFill>
              </a:defRPr>
            </a:pPr>
            <a:r>
              <a:t>Critical Gap: Non-RL Baselines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487168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Reviewers will ask: 'Why use RL at all?'</a:t>
            </a:r>
            <a:br/>
            <a:r>
              <a:t>Need: Do-Nothing, Rule-Based, and ideally</a:t>
            </a:r>
            <a:br/>
            <a:r>
              <a:t>one optimization baseline (MPC or LP)</a:t>
            </a:r>
            <a:br/>
            <a:r>
              <a:t>for each environment.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4206240"/>
            <a:ext cx="2286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601200" y="4206240"/>
            <a:ext cx="64008" cy="18288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84080" y="427939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61F41"/>
                </a:solidFill>
              </a:defRPr>
            </a:pPr>
            <a:r>
              <a:t>Paper Timeline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4590288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Mar-Apr: Complete baselines + testing</a:t>
            </a:r>
            <a:br/>
            <a:r>
              <a:t>Apr-May: Core experiments (5 seeds)</a:t>
            </a:r>
            <a:br/>
            <a:r>
              <a:t>May-Jun: Analysis &amp; writing</a:t>
            </a:r>
            <a:br/>
            <a:r>
              <a:t>Jun 12-19: Final review &amp; submit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SmartGridComm — Novelty &amp;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A043"/>
                </a:solidFill>
              </a:defRPr>
            </a:pPr>
            <a:r>
              <a:t>Novel Contributions (What We Can Claim)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61F41"/>
                </a:solidFill>
              </a:defRPr>
            </a:pPr>
            <a:r>
              <a:t>C1: First Unified Multi-Paradigm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Standard RL + Safe RL + MARL across EV Charging,</a:t>
            </a:r>
            <a:br/>
            <a:r>
              <a:t>Building HVAC, and Cogeneration under one protocol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91640"/>
            <a:ext cx="1188720" cy="27432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Conf: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61F41"/>
                </a:solidFill>
              </a:defRPr>
            </a:pPr>
            <a:r>
              <a:t>C2: Systematic Noise Robustness Decomposition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Three independent noise channels (obs/action/env)</a:t>
            </a:r>
            <a:br/>
            <a:r>
              <a:t>characterized across three energy domains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651760"/>
            <a:ext cx="1188720" cy="27432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Conf: 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61F41"/>
                </a:solidFill>
              </a:defRPr>
            </a:pPr>
            <a:r>
              <a:t>C3: First Safe RL Benchmark for EV &amp; Cogen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Novel CMDP formulations with domain-specific cost</a:t>
            </a:r>
            <a:br/>
            <a:r>
              <a:t>signals (excess charge, power, constraint violations)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611880"/>
            <a:ext cx="11887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Conf: MED-HIGH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61F41"/>
                </a:solidFill>
              </a:defRPr>
            </a:pPr>
            <a:r>
              <a:t>C4: Cross-Paradigm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006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Standard RL vs Safe RL vs MARL tradeoff analysis</a:t>
            </a:r>
            <a:br/>
            <a:r>
              <a:t>on the same environments and 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572000"/>
            <a:ext cx="1188720" cy="27432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Conf: 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61F41"/>
                </a:solidFill>
              </a:defRPr>
            </a:pPr>
            <a:r>
              <a:t>C5: Open-Source Reproducible Suite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607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Full code, SLURM scripts, standardized evaluation</a:t>
            </a:r>
            <a:br/>
            <a:r>
              <a:t>protocol for community reproducibility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5532120"/>
            <a:ext cx="11887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Conf: 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3333"/>
                </a:solidFill>
              </a:defRPr>
            </a:pPr>
            <a:r>
              <a:t>Not Novel (Don't Over-Claim)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>
                <a:solidFill>
                  <a:srgbClr val="666666"/>
                </a:solidFill>
              </a:rPr>
              <a:t>Environments themselves (SustainGym, NeurIPS 2023)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>
                <a:solidFill>
                  <a:srgbClr val="666666"/>
                </a:solidFill>
              </a:rPr>
              <a:t>Individual algorithms (PPO, SAC, TD3, OmniSafe algos)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>
                <a:solidFill>
                  <a:srgbClr val="666666"/>
                </a:solidFill>
              </a:rPr>
              <a:t>PettingZoo/RLlib frameworks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>
                <a:solidFill>
                  <a:srgbClr val="666666"/>
                </a:solidFill>
              </a:rPr>
              <a:t>Basic noise injection techniques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657600"/>
            <a:ext cx="3840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46720" y="3657600"/>
            <a:ext cx="64008" cy="22860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373075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61F41"/>
                </a:solidFill>
              </a:defRPr>
            </a:pPr>
            <a:r>
              <a:t>Positioning Statement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041648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We don't claim new algorithms or environments.</a:t>
            </a:r>
            <a:br/>
            <a:r>
              <a:t>Our contribution is the BENCHMARK PROTOCOL:</a:t>
            </a:r>
            <a:br/>
            <a:r>
              <a:t>the first systematic, multi-paradigm evaluation</a:t>
            </a:r>
            <a:br/>
            <a:r>
              <a:t>of RL in sustainable energy systems, with</a:t>
            </a:r>
            <a:br/>
            <a:r>
              <a:t>noise robustness as a unique axis.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Possible Paper Titles &amp; Main Stories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Which framing gives us the strongest SmartGridComm paper? Key insights from our experiments below.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14500"/>
            <a:ext cx="1005840" cy="320040"/>
          </a:xfrm>
          <a:prstGeom prst="round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OPTION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6401"/>
            <a:ext cx="107549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61F41"/>
                </a:solidFill>
              </a:defRPr>
            </a:pPr>
            <a:r>
              <a:rPr dirty="0"/>
              <a:t>"</a:t>
            </a:r>
            <a:r>
              <a:rPr dirty="0" err="1"/>
              <a:t>SustainRL</a:t>
            </a:r>
            <a:r>
              <a:rPr dirty="0"/>
              <a:t>-Bench: A Multi-Paradigm Benchmark for</a:t>
            </a:r>
            <a:r>
              <a:rPr lang="en-US" dirty="0"/>
              <a:t> </a:t>
            </a:r>
            <a:r>
              <a:rPr dirty="0"/>
              <a:t>Reinforcement Learning in Sustainable Energy Systems"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23869"/>
            <a:ext cx="1051560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rPr dirty="0"/>
              <a:t>Main Story: We present the first benchmark that systematically evaluates standard RL, safe (constrained) RL, and multi-agent RL on the same three energy environments under a unified protocol. Our preliminary results already reveal several non-obvious findings: (1) noise vulnerability is highly asymmetric across channels — Building HVAC suffers 256% performance loss under observation noise at 0.4 but is nearly immune to action noise (&lt;5% variance across all levels), while EV charging counter-intuitively improves by 69-116% under moderate observation noise, suggesting a regularization effect unique to high-dimensional charging coordination; (2) safe RL algorithms exhibit a wide performance-safety spectrum — IPO achieves near-zero constraint cost on EV charging (10^-33) with reward &gt;9.0, but shows 100x cost variance across seeds, whereas PCPO provides stable constraint satisfaction (~3.0) on Building at the expense of reward; (3) cross-paradigm comparison reveals that the optimal RL paradigm is strongly environment-dependent. The paper's anchor claim is the benchmark protocol itself: no prior work covers this 3-env x 3-paradigm x 3-noise intersection. This is the broadest scope, telling the full thesis story in 6 pages.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9254" y="5052367"/>
            <a:ext cx="41148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9254" y="5052367"/>
            <a:ext cx="64008" cy="118872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2134" y="5125519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A043"/>
                </a:solidFill>
              </a:defRPr>
            </a:pPr>
            <a:r>
              <a:t>Strengths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2134" y="5362772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rPr dirty="0"/>
              <a:t>- Maximum novelty surface (3x3x3)</a:t>
            </a:r>
            <a:br>
              <a:rPr dirty="0"/>
            </a:br>
            <a:r>
              <a:rPr dirty="0"/>
              <a:t>- Named benchmark aids citation</a:t>
            </a:r>
            <a:br>
              <a:rPr dirty="0"/>
            </a:br>
            <a:r>
              <a:rPr dirty="0"/>
              <a:t>- Directly extends </a:t>
            </a:r>
            <a:r>
              <a:rPr dirty="0" err="1"/>
              <a:t>SustainGym</a:t>
            </a:r>
            <a:r>
              <a:rPr dirty="0"/>
              <a:t> (</a:t>
            </a:r>
            <a:r>
              <a:rPr dirty="0" err="1"/>
              <a:t>NeurIPS</a:t>
            </a:r>
            <a:r>
              <a:rPr dirty="0"/>
              <a:t> 2023)</a:t>
            </a:r>
            <a:br>
              <a:rPr dirty="0"/>
            </a:br>
            <a:r>
              <a:rPr dirty="0"/>
              <a:t>- 735+ training runs already done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8739" y="5052367"/>
            <a:ext cx="41148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78739" y="5052367"/>
            <a:ext cx="64008" cy="1188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61619" y="5116375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</a:defRPr>
            </a:pPr>
            <a:r>
              <a:t>Risks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1619" y="5362772"/>
            <a:ext cx="3794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rPr dirty="0"/>
              <a:t>- 6 pages tight for 3 axes</a:t>
            </a:r>
            <a:br>
              <a:rPr dirty="0"/>
            </a:br>
            <a:r>
              <a:rPr dirty="0"/>
              <a:t>- 'Broad but shallow' concern</a:t>
            </a:r>
            <a:br>
              <a:rPr dirty="0"/>
            </a:br>
            <a:r>
              <a:rPr dirty="0"/>
              <a:t>- Needs non-RL baselines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Preliminary Abstract Drafts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005840" cy="320040"/>
          </a:xfrm>
          <a:prstGeom prst="round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OPTION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1188720"/>
            <a:ext cx="1463040" cy="3200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RECOMMENDED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1704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61F41"/>
                </a:solidFill>
              </a:defRPr>
            </a:pPr>
            <a:r>
              <a:t>SustainRL-Bench: A Multi-Paradigm Benchmark for RL in Sustainable Energy Systems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112471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1069848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lang="en-US" dirty="0"/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(RL) is increasingly applied to energy system control, yet evaluations remain fragmented across isolated environments, algorithm families, and operational settings. We present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SustainRL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-Bench, the first benchmark that systematically evaluates standard RL (PPO, SAC, TD3), constrained safe RL 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PPOLag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CPO,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OnCRPO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FOCOPS,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SACLag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cooperative multi-agent RL across three diverse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SustainGym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energy domains: electric vehicle charging (54-station network), building HVAC (multi-zone RC thermal model), and cogeneration plant dispatch (ONNX surrogate with three gas turbines). Our evaluation protocol introduces a structured noise decomposition framework that independently varies observation, action, and environment uncertainty to assess deployment robustness.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735+ training runs spanning 10+ noise levels, 5 safe RL algorithms at 4 constraint tightness levels, and 3 multi-agent decompositions, we uncover several findings that challenge prevailing assumptions: (1) noise vulnerability is channel- and domain-specific — building HVAC policies degrade by 256% under observation noise but remain stable (&lt;5% variance) under action noise, while EV charging policies counter-intuitively improve by 69-116% under moderate observation noise due to implicit regularization; (2) safe RL algorithms exhibit a 100x cost variance across seeds on identical configurations, with interior-point methods achieving near-zero constraint violation in some runs but diverging in others; (3) low-level noise (sigma=0.01) can improve over clean baselines by 22%, revealing non-monotonic robustness profiles. These findings provide actionable guidance for practitioners selecting RL paradigms and noise mitigation strategies for energy system deployment. We release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SustainRL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-Bench as an open-source benchmark suite.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~230 words  |  Key selling points: breadth (3x3x3), counter-intuitive noise findings, safe RL seed variance, non-monotonic robustness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13/17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Preliminary Abstract Drafts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00584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OPTION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1704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</a:defRPr>
            </a:pPr>
            <a:r>
              <a:t>How Robust is Energy RL? Decomposing Noise Across Sustainable Energy Domains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44206"/>
            <a:ext cx="1078992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reinforcement learning has demonstrated promising results for energy system control, yet the robustness of learned policies under realistic deployment uncertainty remains poorly understood. We introduce a structured noise decomposition framework that independently characterizes policy sensitivity along three orthogonal channels — observation noise (sensor uncertainty), action noise (actuator imprecision), and environment noise (sim-to-real dynamics gap) — across three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SustainGym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energy domains: electric vehicle charging, building HVAC, and cogeneration.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analysis across PPO, SAC, and TD3 at 10+ noise levels per environment reveals that noise vulnerability profiles are strikingly domain-specific and asymmetric across channels. In building HVAC, observation noise causes catastrophic degradation (53% at sigma=0.10, 256% at sigma=0.40), while action noise has negligible impact (&lt;5% variance from sigma=0.0 to 0.40) — implying that sensor accuracy, not actuator precision, should be the investment priority for HVAC deployment. In EV charging, we observe the opposite: moderate observation noise improves policy performance by 69-116%, acting as implicit regularization for the 54-dimensional coordination problem. In cogeneration, environment noise up to 3x baseline (including 45% ONNX model output perturbation) produces minimal reward impact, indicating robust local dynamics. We further identify a non-monotonic pattern: noise at sigma=0.01 improves Building PPO by 22% over the clean baseline, suggesting that optimal deployment may require deliberate noise injection. SAC consistently outperforms PPO at baseline but shows comparable degradation slopes, indicating that robustness is architecture-independent. Our findings provide the first channel-specific noise sensitivity map for energy RL and offer concrete deployment guidelines for practitioners.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~250 words  |  Key selling points: noise-as-regularization discovery, asymmetric channel vulnerability, non-monotonic profiles, practitioner deployment guidelines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14/17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Preliminary Abstract Drafts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005840" cy="32004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OPTION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1704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722"/>
                </a:solidFill>
              </a:defRPr>
            </a:pPr>
            <a:r>
              <a:t>Safe RL for Sustainable Energy: A Constrained Optimization Benchmark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38068"/>
            <a:ext cx="1078992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controllers for energy systems must satisfy hard operational constraints — network capacity limits in EV charging, thermal comfort bounds in buildings, and equipment safety envelopes in cogeneration plants — yet most RL benchmarks optimize reward without explicit constraint handling. We present the first systematic constrained RL benchmark for sustainable energy systems, formulating each of three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SustainGym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environments as a Constrained Markov Decision Process (CMDP) with physically motivated cost signals: excess charging violations scaled by network capacity (EV), energy consumption orthogonal to the comfort objective (Building), and dynamic equipment constraint violations plus supply non-delivery (Cogeneration).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evaluate five safe RL algorithms —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PPOLag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CPO,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OnCRPO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FOCOPS, and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SACLag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across four constraint tightness levels (cost limits 1, 5, 25, 1000) totaling 177 training runs. Our results reveal that the reward-safety Pareto landscape varies dramatically across domains and algorithms: interior-point methods (IPO) achieve near-perfect constraint satisfaction (cost ~ 10^-33) on EV charging with competitive reward (&gt;9.0) in favorable runs, but exhibit extreme instability (100x cost variance across seeds); projection-based methods (PCPO) provide the most stable tradeoffs on Building with consistent cost (~3.0 +/- 0.05 across 5 seeds); while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Lagrangian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off-policy methods 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SACLag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can become overly conservative, achieving zero cost at 24x reward penalty on Building. Under loose constraints (limit=1000),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Lagrangian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multiplier explosion degrades all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Lagrangian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methods without explicit upper bounding. These findings demonstrate that safe RL is viable for energy systems but requires careful algorithm selection matched to domain-specific constraint structures.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~240 words  |  Key selling points: first CMDP for EV/cogen, seed variance as finding, Lagrangian instability insight, projection vs. interior-point tradeoff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15/17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1F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4. VT PEC Annual Conference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7722"/>
                </a:solidFill>
              </a:defRPr>
            </a:pPr>
            <a:r>
              <a:t>Group Presentation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06240"/>
            <a:ext cx="22860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16/17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VT PEC Annual Conference — Group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61F41"/>
                </a:solidFill>
              </a:defRPr>
            </a:pPr>
            <a:r>
              <a:t>Virginia Tech Power &amp; Energy Center (PEC) Annual Conference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</a:defRPr>
            </a:pPr>
            <a:r>
              <a:t>Our research group needs to present at this year's PEC Annual Conference.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64008" cy="20116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45059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Current Situation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61488"/>
            <a:ext cx="4983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- We need at least one presentation from our group (RoleLab)</a:t>
            </a:r>
            <a:br/>
            <a:r>
              <a:t>- The PEC conference is an important venue for visibility within VT</a:t>
            </a:r>
            <a:br/>
            <a:r>
              <a:t>- Good opportunity to showcase our RL-for-energy research</a:t>
            </a:r>
            <a:br/>
            <a:r>
              <a:t>- My SustainRL-Bench work could be a strong candidate for this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37744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2377440"/>
            <a:ext cx="64008" cy="201168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45059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61F41"/>
                </a:solidFill>
              </a:defRPr>
            </a:pPr>
            <a:r>
              <a:t>What I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61488"/>
            <a:ext cx="4983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- Guidance on the presentation format &amp; requirements</a:t>
            </a:r>
            <a:br/>
            <a:r>
              <a:t>- Help deciding what to present (thesis work? SmartGridComm subset?)</a:t>
            </a:r>
            <a:br/>
            <a:r>
              <a:t>- Feedback on whether the timing works with my other deadlines</a:t>
            </a:r>
            <a:br/>
            <a:r>
              <a:t>- Any coordination needed with other group members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61F41"/>
                </a:solidFill>
              </a:defRPr>
            </a:pPr>
            <a:r>
              <a:t>Action Items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120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Confirm whether I should prepare the group presentation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Get details on PEC conference date, format, and abstract deadline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Discuss scope: full thesis overview vs. focused SmartGridComm results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Coordinate with other RoleLab members if needed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2599</Words>
  <Application>Microsoft Office PowerPoint</Application>
  <PresentationFormat>Widescreen</PresentationFormat>
  <Paragraphs>189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Mehmet KORUTURK</dc:creator>
  <cp:keywords/>
  <dc:description>generated using python-pptx</dc:description>
  <cp:lastModifiedBy>Koruturk, Mehmet</cp:lastModifiedBy>
  <cp:revision>10</cp:revision>
  <dcterms:created xsi:type="dcterms:W3CDTF">2013-01-27T09:14:16Z</dcterms:created>
  <dcterms:modified xsi:type="dcterms:W3CDTF">2026-03-08T22:53:51Z</dcterms:modified>
  <cp:category/>
</cp:coreProperties>
</file>