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015" y="624078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SustainRL-Bench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CC"/>
                </a:solidFill>
              </a:defRPr>
            </a:pPr>
            <a:r>
              <a:t>A Multi-Paradigm Benchmark for Reinforcement</a:t>
            </a:r>
            <a:br/>
            <a:r>
              <a:t>Learning in Sustainable Energy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7432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Mehmet Koruturk</a:t>
            </a:r>
            <a:br/>
            <a:r>
              <a:t>Virginia Tech — RoleLab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Target: IEEE SmartGridComm 2026  |  Deadline: June 19,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389120"/>
            <a:ext cx="1371600" cy="7315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EV Charging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389120"/>
            <a:ext cx="1371600" cy="7315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Building HVAC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4389120"/>
            <a:ext cx="1371600" cy="73152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1/35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711" y="626364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1.  Project Overview &amp; 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2.  Three SustainGym Environments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3.  Noise Robustness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5117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4.  Literature Positioning &amp;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5.  Novelty &amp; Contributions (Deep Dive)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6.  Gap Analysis (Detailed Audit)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7.  Strategic Execution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2394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8.  Baseline Implementation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171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9.  Experiment Design &amp;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10. Evaluation &amp; Reporting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11. Paper Writing 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967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12. Risk Assessment &amp; Contingencies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0899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61F41"/>
                </a:solidFill>
              </a:defRPr>
            </a:pPr>
            <a:r>
              <a:t>13. Timeline &amp;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2/35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188" y="6572634"/>
            <a:ext cx="1509225" cy="2853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61F41"/>
                </a:solidFill>
              </a:defRPr>
            </a:pPr>
            <a:r>
              <a:t>Core 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How do different RL paradigms (standard, safe, multi-agent)</a:t>
            </a:r>
            <a:br/>
            <a:r>
              <a:t>perform across diverse sustainable energy domains under</a:t>
            </a:r>
            <a:br/>
            <a:r>
              <a:t>realistic uncertainty conditions?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Experimental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749039"/>
            <a:ext cx="2926080" cy="7772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Standard RL</a:t>
            </a:r>
          </a:p>
          <a:p>
            <a:pPr>
              <a:defRPr sz="1100">
                <a:solidFill>
                  <a:srgbClr val="DDDDDD"/>
                </a:solidFill>
              </a:defRPr>
            </a:pPr>
            <a:r>
              <a:t>(PPO, SAC via SB3)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74903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EV Charging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54 stations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3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Building HVAC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RC thermal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74903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Cogeneration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ONNX surrogate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709159"/>
            <a:ext cx="2926080" cy="7772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Safe RL</a:t>
            </a:r>
          </a:p>
          <a:p>
            <a:pPr>
              <a:defRPr sz="1100">
                <a:solidFill>
                  <a:srgbClr val="DDDDDD"/>
                </a:solidFill>
              </a:defRPr>
            </a:pPr>
            <a:r>
              <a:t>(CMDP via OmniSafe)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70915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EV Charging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54 stations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70915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Building HVAC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RC thermal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470915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Cogeneration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ONNX surrogate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669279"/>
            <a:ext cx="2926080" cy="7772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Multi-Agent RL</a:t>
            </a:r>
          </a:p>
          <a:p>
            <a:pPr>
              <a:defRPr sz="1100">
                <a:solidFill>
                  <a:srgbClr val="DDDDDD"/>
                </a:solidFill>
              </a:defRPr>
            </a:pPr>
            <a:r>
              <a:t>(RLlib + PettingZoo)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566927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EV Charging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54 stations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66927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Building HVAC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RC thermal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5669279"/>
            <a:ext cx="274320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Cogeneration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ONNX surrogate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3/35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Five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Which RL algorithm performs best across energy domains?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Expected: SAC for off-policy efficiency; PPO for stability under noise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423160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Is safe (constrained) RL worth the reward cost?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9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Expected: X% fewer violations at Y% reward reduction — quantify Pareto tradeoff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474720"/>
            <a:ext cx="502920" cy="50292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Does multi-agent RL improve over single-agent?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Expected: env-dependent — EV charging benefits; cogen may not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526279"/>
            <a:ext cx="502920" cy="50292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Which noise type is most damaging to energy RL?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82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Hypothesis: env noise (distribution shift) &gt; obs noise &gt; action noise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5577840"/>
            <a:ext cx="502920" cy="502920"/>
          </a:xfrm>
          <a:prstGeom prst="ellipse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486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Does RL outperform traditional baselines under uncertainty?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338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Expected: RL beats rule-based; advantage grows with increasing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4/35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958" y="624078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Environment 1: EV Charging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64008" cy="9144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ACN-Data / ACN-Sim (Caltech)</a:t>
            </a:r>
            <a:br/>
            <a:r>
              <a:t>GMM-based trace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28016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1280160"/>
            <a:ext cx="64008" cy="9144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3533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Episode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288 timesteps (24-hour day, 5-min resolution)</a:t>
            </a:r>
            <a:br/>
            <a:r>
              <a:t>54 charging stations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8016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64008" cy="9144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59" y="13533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66420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profit - carbon_cost - excess_charge</a:t>
            </a:r>
            <a:br/>
            <a:r>
              <a:t>(USD per timestep)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Observation Space (Dict)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timestep: scalar [0, 287]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est_departures: (54,) estimated departure times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demands: (54,) remaining energy demand per station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prev_moer: (1,) previous marginal operating emissions rate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forecasted_moer: (36,) 3-hour MOER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Action Space: Box(54)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346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Continuous [0, 1] normalized pilot signals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Scaled to [0, 32] Amps in environment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Network constraint projection (CVXPY+MOSEK) optional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MARL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54 agents (one per station)</a:t>
            </a:r>
            <a:br/>
            <a:r>
              <a:t>Shared reward / num_agents</a:t>
            </a:r>
            <a:br/>
            <a:r>
              <a:t>PettingZoo ParallelEnv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303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Safe RL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excess_charge * 100 (network constraint violations)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5/35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Environment 2: Building HVAC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64008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EnergyPlus RC thermal model</a:t>
            </a:r>
            <a:br/>
            <a:r>
              <a:t>ASHRAE 90.1-2019, OfficeSmall, Hot_Dry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28016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1280160"/>
            <a:ext cx="64008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3533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Episode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288 timesteps (24h, 5-min resolution)</a:t>
            </a:r>
            <a:br/>
            <a:r>
              <a:t>Multiple thermal zones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8016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64008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59" y="13533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66420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-(energy_rate * ||action||_p +</a:t>
            </a:r>
            <a:br/>
            <a:r>
              <a:t>error_rate * ||temp_error||_p)</a:t>
            </a:r>
            <a:br/>
            <a:r>
              <a:t>Normalized to [-1, 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Observation: Box(n+4)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zone_temperatures (n)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outdoor_temperature (1)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ground_temperature (1)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global_horizontal_irradiance (1)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occupancy_power 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Action: Box(n) in [-1, 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346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Negative = cooling, Positive = heating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Zones without AC have fixed action=0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reward_beta controls comfort vs energy tradeoff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6666"/>
                </a:solidFill>
              </a:defRPr>
            </a:pPr>
            <a:r>
              <a:t>MARL: 1 agent per AC-enabled zone  |  Safe RL cost: temperature violations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6/35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Environment 3: Cogeneration Plant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64008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ONNX surrogate model of CHP plant</a:t>
            </a:r>
            <a:br/>
            <a:r>
              <a:t>Lazy-loaded in reset() for pickling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280160"/>
            <a:ext cx="3657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1280160"/>
            <a:ext cx="64008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3533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Episode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96 timesteps per day</a:t>
            </a:r>
            <a:br/>
            <a:r>
              <a:t>Mixed continuous/discrete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80160"/>
            <a:ext cx="3931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64008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59" y="1353312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66420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-(fuel + ramp + non_delivery +</a:t>
            </a:r>
            <a:br/>
            <a:r>
              <a:t>constraint_violation) / 1e7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468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MyCogenEnv Wrapper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Flattens Dict action space to single continuous Box(15)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Removes Prev_Action nesting from obs Dict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Discrete actions decoded with np.rint() + np.clip() (NOT truncation)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Discrete(2) -&gt; [0,1]; Discrete(12, start=1) -&gt; [1,12]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Reward scaled by 1/reward_scale (default 1e7)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safe_rl=True further flattens Dict obs to Box for OmniSafe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6666"/>
                </a:solidFill>
              </a:defRPr>
            </a:pPr>
            <a:r>
              <a:t>MARL: 4 agents (GT1, GT2, GT3, ST) — per-agent reward  |  Safe RL cost: dyn_cv_costs / 1e7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7/35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Noise Robustness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Three Independent Noise Channels — Key Methodological Contribution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7315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64008" cy="1325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Observation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6995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o_noisy = o + N(0, sigma_o * |o|)</a:t>
            </a:r>
            <a:br/>
            <a:r>
              <a:t>Sensor uncertainty, forecast errors</a:t>
            </a:r>
            <a:br/>
            <a:r>
              <a:t>Levels: {0, 0.05, 0.10, 0.20, 0.40}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65760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Agent sees</a:t>
            </a:r>
            <a:br/>
            <a:r>
              <a:t>noisy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83280"/>
            <a:ext cx="7315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64008" cy="13258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56432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Action 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67328"/>
            <a:ext cx="6995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a_noisy = clip(a + N(0, sigma_a), lo, hi)</a:t>
            </a:r>
            <a:br/>
            <a:r>
              <a:t>Actuator imprecision, communication errors</a:t>
            </a:r>
            <a:br/>
            <a:r>
              <a:t>Levels: {0, 0.05, 0.10, 0.20, 0.40}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365760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Env receives</a:t>
            </a:r>
            <a:br/>
            <a:r>
              <a:t>noisy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937760"/>
            <a:ext cx="7315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64008" cy="13258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010912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Environment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21808"/>
            <a:ext cx="6995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s' = f(s, a; theta + N(0, sigma_e))</a:t>
            </a:r>
            <a:br/>
            <a:r>
              <a:t>Model mismatch, real-world stochasticity</a:t>
            </a:r>
            <a:br/>
            <a:r>
              <a:t>Levels: {0, 0.05, 0.10, 0.20, 0.40}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5212080"/>
            <a:ext cx="3657600" cy="64008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Dynamics are</a:t>
            </a:r>
            <a:br/>
            <a:r>
              <a:t>stochastic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</a:defRPr>
            </a:pPr>
            <a:r>
              <a:t>Ablation: Independent channels + joint noise → reveals interaction effects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8/35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Noise Decomposition: Experiment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Protocol: Independent Channel Ablation + Joint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54864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64008" cy="1645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Phase A: Independent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For each noise_type in {obs, action, env}:</a:t>
            </a:r>
            <a:br/>
            <a:r>
              <a:t>  For each level in {0, 0.05, 0.10, 0.20, 0.40}:</a:t>
            </a:r>
            <a:br/>
            <a:r>
              <a:t>    Train with ONLY this noise type active</a:t>
            </a:r>
            <a:br/>
            <a:r>
              <a:t>    Other two channels =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37360"/>
            <a:ext cx="5852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64008" cy="1645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81051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Phase B: Joint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21408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For each level in {0, 0.05, 0.10, 0.20, 0.40}:</a:t>
            </a:r>
            <a:br/>
            <a:r>
              <a:t>  Train with ALL three channels at same level</a:t>
            </a:r>
            <a:br/>
            <a:r>
              <a:t>  Compare: joint_drop vs sum(individual_drops)</a:t>
            </a:r>
            <a:br/>
            <a:r>
              <a:t>  Reveals: additive or compounding effects?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657600"/>
            <a:ext cx="5486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64008" cy="14630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73075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Phase C: Distribution Shift (Train-Clean-Test-Noisy)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41648"/>
            <a:ext cx="5166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Take best clean model (noise=0)</a:t>
            </a:r>
            <a:br/>
            <a:r>
              <a:t>Evaluate under noise = {0.05, 0.10, 0.20, 0.40}</a:t>
            </a:r>
            <a:br/>
            <a:r>
              <a:t>No additional training — evaluation only</a:t>
            </a:r>
            <a:br/>
            <a:r>
              <a:t>Measures deployment robustness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657600"/>
            <a:ext cx="58521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5040" y="3657600"/>
            <a:ext cx="64008" cy="14630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73075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Key Analysis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41648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1. Does obs noise &gt; act noise &gt; env noise (or different order)?</a:t>
            </a:r>
            <a:br/>
            <a:r>
              <a:t>2. Is joint noise additive or super-additive?</a:t>
            </a:r>
            <a:br/>
            <a:r>
              <a:t>3. How much does in-distribution training help vs clean-only?</a:t>
            </a:r>
            <a:br/>
            <a:r>
              <a:t>4. Are vulnerability profiles consistent across environments?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394960"/>
            <a:ext cx="11612880" cy="11887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</a:defRPr>
            </a:pPr>
            <a:r>
              <a:t>[FIGURE PLACEHOLDER: 3x3 Noise Degradation Curves — rows=envs, cols=noise types]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9/35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Literature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Where we fit in the existing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10/35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Literature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926080" cy="38404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SustainGym (NeurIPS'23)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28016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3 envs, basic RL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2801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We extend: safe RL + MARL + noise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21408"/>
            <a:ext cx="2926080" cy="384048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CityLearn (BuildSys'19)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214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MARL for buildings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12140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We add: 3 domains + safe 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962656"/>
            <a:ext cx="2926080" cy="384048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BOPTEST (JBPS'21)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626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Building control + MPC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96265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We add: RL benchmark + multi-domain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803904"/>
            <a:ext cx="2926080" cy="384048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Sinergym (BuildSys'21)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803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EnergyPlus RL, single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80390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We: multi-domain, multi-paradigm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645152"/>
            <a:ext cx="2926080" cy="384048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OmniSafe (arXiv'23)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6451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Safe RL framework, robotics 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6451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We: apply to energy 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486400"/>
            <a:ext cx="2926080" cy="384048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Dulac-Arnold (ML'21)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4864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Real-world RL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4864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We: instantiate for energy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Our Unique Position: Intersection of {multi-domain} x {multi-paradigm} x {noise decomposition}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11/35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Novelty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Deep Dive: What is new, what is not, and what to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12/35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Honest Novelty Audit: What Is NOT Novel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We must be precise about what already exists — overclaiming kills credibility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  Environments — SustainGym published at NeurIPS 2023 (Yeh et al.)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  PPO / SAC / TD3 — well-established algorithms (2017-2018)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  OmniSafe framework — published (Ji et al. 2023)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  Ray RLlib / PettingZoo — published frameworks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  RL for EV charging / buildings / cogen — many prior papers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  Safe RL theory (CMDP) — Altman 1999, Achiam 2017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  MARL for buildings — CityLearn, GridLearn exist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1F41"/>
                </a:solidFill>
              </a:defRPr>
            </a:pPr>
            <a:r>
              <a:t>Novelty must come from the BENCHMARK PROTOCOL and the INSIGHTS it generates — not the components.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13/35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Novelty N1: Unified Multi-Paradigm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2011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What We Must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1. Complete standard RL (PPO, SAC) across all 3 envs with 5 seeds</a:t>
            </a:r>
            <a:br/>
            <a:r>
              <a:t>2. Complete safe RL (OnCRPO, CPO, PPOLag) across all 3 envs</a:t>
            </a:r>
            <a:br/>
            <a:r>
              <a:t>3. Complete MARL training across all 3 envs with 5 seeds</a:t>
            </a:r>
            <a:br/>
            <a:r>
              <a:t>4. Present all results in a single unified table with identical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64008" cy="20116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What We Can Then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349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"To the best of our knowledge, this is the first benchmark that</a:t>
            </a:r>
            <a:br/>
            <a:r>
              <a:t>systematically evaluates standard RL, constrained (safe) RL,</a:t>
            </a:r>
            <a:br/>
            <a:r>
              <a:t>and multi-agent RL on the same set of energy system</a:t>
            </a:r>
            <a:br/>
            <a:r>
              <a:t>environments under a unified evaluation protocol."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474720"/>
            <a:ext cx="5669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474720"/>
            <a:ext cx="64008" cy="13716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547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Why This Is Credible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58768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SustainGym: environments + basic PPO only (no safe/MARL benchmark)</a:t>
            </a:r>
            <a:br/>
            <a:r>
              <a:t>- CityLearn: MARL for buildings only (no safe RL, single domain)</a:t>
            </a:r>
            <a:br/>
            <a:r>
              <a:t>- No existing paper spans EV + Building + Cogen AND std + safe + MARL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669280" cy="13716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STRENGTH: HIGH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This is the paper's anchor novelty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14/35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Novelty N2: Structured Noise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1828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What We Must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1. Define formal noise model with 3 orthogonal channels</a:t>
            </a:r>
            <a:br/>
            <a:r>
              <a:t>2. Run experiments varying each channel independently</a:t>
            </a:r>
            <a:br/>
            <a:r>
              <a:t>3. Run joint noise experiments (all 3 simultaneously)</a:t>
            </a:r>
            <a:br/>
            <a:r>
              <a:t>4. Show decomposed impact profiles differ across envs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64008" cy="1828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What We Can Then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"We introduce a structured noise decomposition for energy RL,</a:t>
            </a:r>
            <a:br/>
            <a:r>
              <a:t>decomposing uncertainty into obs, action, and env channels.</a:t>
            </a:r>
            <a:br/>
            <a:r>
              <a:t>Our analysis reveals that [environment noise dominates in EV</a:t>
            </a:r>
            <a:br/>
            <a:r>
              <a:t>while observation noise dominates in cogen]."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91840"/>
            <a:ext cx="5669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291840"/>
            <a:ext cx="64008" cy="13716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6499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Why This Is Credible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8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Dulac-Arnold (2021): defines challenges but doesn't apply to energy</a:t>
            </a:r>
            <a:br/>
            <a:r>
              <a:t>- Most energy RL papers: add noise as single unstructured perturbation</a:t>
            </a:r>
            <a:br/>
            <a:r>
              <a:t>- Decomposition into obs/action/env is a methodological contribution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91840"/>
            <a:ext cx="5669280" cy="13716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STRENGTH: HIGH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Methodological novelty — provides actionable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15/35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Novelty Claims N3, N4, N5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8686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1554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8366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N3: First Safe RL for EV Charging &amp; Cogen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8366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CMDP formulation with OmniSafe</a:t>
            </a:r>
            <a:br/>
            <a:r>
              <a:t>Pareto analysis: reward vs. constraint cost</a:t>
            </a:r>
            <a:br/>
            <a:r>
              <a:t>No prior CMDP work on ACN-based EV or ONNX-based cogen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45920"/>
            <a:ext cx="2286000" cy="45720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Strength: MED-HIGH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017520"/>
            <a:ext cx="8686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64008" cy="1554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90672"/>
            <a:ext cx="8366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N4: Cross-Domain MARL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8366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54 agents (EV) vs 4 agents (Cogen) vs ~5 agents (Building)</a:t>
            </a:r>
            <a:br/>
            <a:r>
              <a:t>Shared reward vs per-agent reward decomposition</a:t>
            </a:r>
            <a:br/>
            <a:r>
              <a:t>Findings may be environment-specific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474720"/>
            <a:ext cx="2286000" cy="45720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Strength: MEDIUM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846320"/>
            <a:ext cx="8686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4846320"/>
            <a:ext cx="64008" cy="15544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919472"/>
            <a:ext cx="8366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N5: RL vs Non-RL Under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30368"/>
            <a:ext cx="8366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Rule-based + (optional) MPC baselines</a:t>
            </a:r>
            <a:br/>
            <a:r>
              <a:t>"RL advantage grows with noise" — actionable for practitioners</a:t>
            </a:r>
            <a:br/>
            <a:r>
              <a:t>Addresses the most fundamental reviewer concern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5303520"/>
            <a:ext cx="2286000" cy="45720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Strength: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16/35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Proposed Contribution Statement (C1-C5)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65760" y="1353312"/>
            <a:ext cx="548640" cy="54864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Unified multi-paradigm evaluation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std RL + safe RL + MARL across 3 SustainGym envs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404872"/>
            <a:ext cx="548640" cy="54864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Structured noise robustness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obs/action/env decomposition with actionable guidance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456432"/>
            <a:ext cx="548640" cy="54864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First safe RL benchmark for EV + Cogen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CMDP cost signals + Pareto frontier characterization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507991"/>
            <a:ext cx="548640" cy="548640"/>
          </a:xfrm>
          <a:prstGeom prst="ellipse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Cross-domain comparative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059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When RL beats baselines, when MARL helps, when safe RL costs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5559552"/>
            <a:ext cx="548640" cy="5486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Open-source benchmark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Reproducible scripts, eval tools, pre-trained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17/35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958" y="81928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Comprehensive audit of what's done, what's missing, what to 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18/35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Experiment Status: Standard RL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41148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Env / Algo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188720"/>
            <a:ext cx="1371600" cy="41148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188720"/>
            <a:ext cx="1645920" cy="41148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Obs Noise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88720"/>
            <a:ext cx="1645920" cy="41148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 Noise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0" y="1188720"/>
            <a:ext cx="1645920" cy="41148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Env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188720"/>
            <a:ext cx="1188720" cy="41148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 Seeds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0" y="1188720"/>
            <a:ext cx="1188720" cy="411480"/>
          </a:xfrm>
          <a:prstGeom prst="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Overall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EV / PPO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64592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EA043"/>
                </a:solidFill>
              </a:defRPr>
            </a:pPr>
            <a: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6459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EA043"/>
                </a:solidFill>
              </a:defRPr>
            </a:pPr>
            <a:r>
              <a:t>Done (10)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6459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EA043"/>
                </a:solidFill>
              </a:defRPr>
            </a:pPr>
            <a:r>
              <a:t>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16459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In Prog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6459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16459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70%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03120"/>
            <a:ext cx="20116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EV / SAC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103120"/>
            <a:ext cx="13716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EA043"/>
                </a:solidFill>
              </a:defRPr>
            </a:pPr>
            <a:r>
              <a:t>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21031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EA043"/>
                </a:solidFill>
              </a:defRPr>
            </a:pPr>
            <a:r>
              <a:t>Done (10)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1031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2EA043"/>
                </a:solidFill>
              </a:defRPr>
            </a:pPr>
            <a:r>
              <a:t>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1031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In Prog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103120"/>
            <a:ext cx="11887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2103120"/>
            <a:ext cx="11887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70%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Bldg / PPO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256032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25603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25603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25603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5603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25603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017520"/>
            <a:ext cx="20116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Bldg / SAC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017520"/>
            <a:ext cx="13716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30175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30175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0" y="30175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3017520"/>
            <a:ext cx="11887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3017520"/>
            <a:ext cx="11887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4747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Cogen / PPO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474720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34747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4747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34747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3474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3474720"/>
            <a:ext cx="1188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20%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31920"/>
            <a:ext cx="20116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Cogen / SAC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931920"/>
            <a:ext cx="13716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39319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87722"/>
                </a:solidFill>
              </a:defRPr>
            </a:pPr>
            <a:r>
              <a:t>Partial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39319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0" y="3931920"/>
            <a:ext cx="16459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CC3333"/>
                </a:solidFill>
              </a:defRPr>
            </a:pPr>
            <a:r>
              <a:t>Missing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3931920"/>
            <a:ext cx="11887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3931920"/>
            <a:ext cx="11887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20%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TD3 dropped from scope — PPO + SAC cover on-policy and off-policy families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19/35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Experiment Status: Safe RL &amp; MARL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722"/>
                </a:solidFill>
              </a:defRPr>
            </a:pPr>
            <a:r>
              <a:t>Safe RL (OmniSafe)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EV / OnCRPO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73152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45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2 cost limits done, needs 5 seeds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29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EV / CPO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029968"/>
            <a:ext cx="73152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029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2 cost limits done, needs 5 seeds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140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EV / PPOLag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414016"/>
            <a:ext cx="73152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14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2 cost limits done, needs 5 seeds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98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Bldg / OnCRPO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798064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798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Early results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82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Bldg / CPO+PPOLag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182112"/>
            <a:ext cx="73152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182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Not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66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Cogen / OnCRPO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56616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566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Incomplete; debug prints in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950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Cogen / CPO+PPOLag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3950208"/>
            <a:ext cx="73152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950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Not started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A043"/>
                </a:solidFill>
              </a:defRPr>
            </a:pPr>
            <a:r>
              <a:t>Multi-Agent RL (RLlib)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645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EV / APPO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164592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9019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32k iters, 1 seed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</a:defRPr>
            </a:pPr>
            <a:r>
              <a:t>54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2148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Bldg / SAC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214884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4048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32k iters, 1 seed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</a:defRPr>
            </a:pPr>
            <a:r>
              <a:t>~5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651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Cogen / PPO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265176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907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Only 100 iters!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</a:defRPr>
            </a:pPr>
            <a:r>
              <a:t>4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BASELINES: 0% complete for all 3 environments — CRITICAL 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20/35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Code-Level Issues to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10058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Omnisafe_Building.py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noise_action parsed but never passed to 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Trivial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892808"/>
            <a:ext cx="1005840" cy="3200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47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Omnisafe_Cogen.py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47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print(info) on every step floods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847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Trivial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551176"/>
            <a:ext cx="1005840" cy="3200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05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marl_tr_co.py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05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Metrics file named 'building_env_metrics'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5054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Rename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209544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63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marl_tr_co.py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63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Only 100 iterations (insufficient)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1638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Increase to 2000+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867912"/>
            <a:ext cx="10058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822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ttp/marl_plot.py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822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All code commented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822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Reactivate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526279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80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stdrl_training.py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4805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No multi-seed batch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480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Add --seeds flag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5184648"/>
            <a:ext cx="100584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389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No file exists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38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No baseline implementations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1389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Create baselines/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843016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7972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No file exists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797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No results aggregation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7972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A043"/>
                </a:solidFill>
              </a:defRPr>
            </a:pPr>
            <a:r>
              <a:t>Create aggregate_results.py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21/35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Scope Reduction: What to 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229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64008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1284272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Drop TD3 entirely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595168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Keep PPO + SAC only</a:t>
            </a:r>
            <a:br/>
            <a:r>
              <a:t>Saves 33% of std RL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63040"/>
            <a:ext cx="182880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194560"/>
            <a:ext cx="8229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64008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2198672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Reduce noise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509568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10 -&gt; 5: {0, 0.05, 0.10, 0.20, 0.40}</a:t>
            </a:r>
            <a:br/>
            <a:r>
              <a:t>Saves 50% noise sweeps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377440"/>
            <a:ext cx="182880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108960"/>
            <a:ext cx="8229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108960"/>
            <a:ext cx="64008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" y="3113072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Reduce safe RL algos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3423968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15 -&gt; 3: OnCRPO, CPO, PPOLag</a:t>
            </a:r>
            <a:br/>
            <a:r>
              <a:t>Huge savings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291840"/>
            <a:ext cx="182880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023360"/>
            <a:ext cx="8229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64008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" y="4027472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Reduce cost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4338368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To 2: {1.0, 5.0}</a:t>
            </a:r>
            <a:br/>
            <a:r>
              <a:t>Saves 33% safe RL runs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4206240"/>
            <a:ext cx="182880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937760"/>
            <a:ext cx="8229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937760"/>
            <a:ext cx="64008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8328" y="4941872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Skip optimization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5252768"/>
            <a:ext cx="7909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If time-constrained</a:t>
            </a:r>
            <a:br/>
            <a:r>
              <a:t>Saves impl.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5120640"/>
            <a:ext cx="1828800" cy="36576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After reduction: ~735 total runs (many are fast evaluation-only)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22/35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Strategic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Phase-by-phase plan from today to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23/35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Phase 0: Infrastructure Setup (Mar 3-10)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1188720" cy="365760"/>
          </a:xfrm>
          <a:prstGeom prst="round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Multi-Seed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887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Add --seeds 42,43,44,45,46 to stdrl_training.py</a:t>
            </a:r>
            <a:br/>
            <a:r>
              <a:t>Or create SLURM array job launcher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234440"/>
            <a:ext cx="109728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86000"/>
            <a:ext cx="1188720" cy="365760"/>
          </a:xfrm>
          <a:prstGeom prst="round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Experiment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40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Script scanning logs/ dirs, cross-referencing</a:t>
            </a:r>
            <a:br/>
            <a:r>
              <a:t>against full experiment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0" y="2286000"/>
            <a:ext cx="109728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337560"/>
            <a:ext cx="1188720" cy="365760"/>
          </a:xfrm>
          <a:prstGeom prst="round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Domain Metric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91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Add per-env metric extraction in stdrl_testing.py</a:t>
            </a:r>
            <a:br/>
            <a:r>
              <a:t>EV: profit, CO2, violations | Bldg: kWh, temp error | Cogen: fuel,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3337560"/>
            <a:ext cx="1097280" cy="36576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389119"/>
            <a:ext cx="1188720" cy="365760"/>
          </a:xfrm>
          <a:prstGeom prst="round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433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Bug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43399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Omnisafe_Building noise_action, Omnisafe_Cogen prints,</a:t>
            </a:r>
            <a:br/>
            <a:r>
              <a:t>marl_tr_co filename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0" y="4389119"/>
            <a:ext cx="109728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TRIVIAL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440680"/>
            <a:ext cx="1188720" cy="365760"/>
          </a:xfrm>
          <a:prstGeom prst="roundRect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SLURM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3949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Array job scripts for batch experiment submission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0" y="5440680"/>
            <a:ext cx="1097280" cy="36576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24/35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Phase 1: Baseline Implementation (Mar 10-24)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286000" cy="50292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Do-Nothing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EV: max charge rate (all 1s)</a:t>
            </a:r>
            <a:br/>
            <a:r>
              <a:t>Building: HVAC off (all 0s)</a:t>
            </a:r>
            <a:br/>
            <a:r>
              <a:t>Cogen: nominal point (midrange)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887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Effort: Trivial</a:t>
            </a:r>
            <a:br/>
            <a:r>
              <a:t>Expected: worst performer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017520"/>
            <a:ext cx="228600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Rule-Based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175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EV: LLLF (urgency-proportional)</a:t>
            </a:r>
            <a:br/>
            <a:r>
              <a:t>Building: deadband thermostat (+/-1C)</a:t>
            </a:r>
            <a:br/>
            <a:r>
              <a:t>Cogen: load-following proportional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Effort: Low</a:t>
            </a:r>
            <a:br/>
            <a:r>
              <a:t>Expected: decent performer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846320"/>
            <a:ext cx="2286000" cy="50292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Optimization (optional)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46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EV: LP for min-cost charging</a:t>
            </a:r>
            <a:br/>
            <a:r>
              <a:t>Building: 1-step MPC with RC model</a:t>
            </a:r>
            <a:br/>
            <a:r>
              <a:t>Cogen: LP for fuel minimization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Effort: Medium</a:t>
            </a:r>
            <a:br/>
            <a:r>
              <a:t>Expected: competitive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A043"/>
                </a:solidFill>
              </a:defRPr>
            </a:pPr>
            <a:r>
              <a:t>Minimum: Do-Nothing + Rule-Based for all 3 envs = 30 eval runs (no training needed)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25/35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Phase 2: Complete Standard RL (Mar 24 - Apr 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1F41"/>
                </a:solidFill>
              </a:defRPr>
            </a:pPr>
            <a:r>
              <a:t>Priority Ordering by Information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83080"/>
            <a:ext cx="64008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Building + Cogen clean baselines (PPO, SAC, noise=0, 5 seeds)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</a:defRPr>
            </a:pPr>
            <a:r>
              <a:t>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77440"/>
            <a:ext cx="64008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Building + Cogen obs noise sweeps (5 levels × 5 seeds)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</a:defRPr>
            </a:pPr>
            <a:r>
              <a:t>Extends EV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71800"/>
            <a:ext cx="64008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EVCharging env noise sweep (5 levels × 5 seeds)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</a:defRPr>
            </a:pPr>
            <a:r>
              <a:t>Third noise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66160"/>
            <a:ext cx="64008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Building + Cogen action noise sweeps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</a:defRPr>
            </a:pPr>
            <a:r>
              <a:t>Complete 2nd 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60520"/>
            <a:ext cx="64008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Building + Cogen env noise sweeps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</a:defRPr>
            </a:pPr>
            <a:r>
              <a:t>Complete 3rd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1F41"/>
                </a:solidFill>
              </a:defRPr>
            </a:pPr>
            <a:r>
              <a:t>SLURM Submission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Week 1: Building clean + obs noise (highest priority)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Week 2: Cogen clean + obs noise; Building action noise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Week 3: EV env noise; Building env noise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Week 4: Cogen action + env noise; reruns for failed 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26/35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Phase 3: Safe RL &amp; MARL (Apr 21 - May 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18288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Safe RL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Building + Cogen: 3 algos x 2 cost limits x 5 seeds = 30 runs each</a:t>
            </a:r>
            <a:br/>
            <a:r>
              <a:t>Verify bug fixes before ARC submission</a:t>
            </a:r>
            <a:br/>
            <a:r>
              <a:t>Run quick local test per env first</a:t>
            </a:r>
            <a:br/>
            <a:r>
              <a:t>Key output: Pareto curves (reward vs constraint cost)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64008" cy="182880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MARL Completion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349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Increase Cogen iterations: 100 -&gt; 2000+</a:t>
            </a:r>
            <a:br/>
            <a:r>
              <a:t>Add seed support to all MARL scripts</a:t>
            </a:r>
            <a:br/>
            <a:r>
              <a:t>Show convergence curves for all envs</a:t>
            </a:r>
            <a:br/>
            <a:r>
              <a:t>Key output: MARL vs single-agent bars + error bars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291840"/>
            <a:ext cx="11612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291840"/>
            <a:ext cx="64008" cy="1463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64992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Distribution Shift (Train-Clean-Test-Noisy)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8"/>
            <a:ext cx="1129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Take best clean model (noise=0, already trained)</a:t>
            </a:r>
            <a:br/>
            <a:r>
              <a:t>Evaluate under noise = {0.05, 0.10, 0.20, 0.40}</a:t>
            </a:r>
            <a:br/>
            <a:r>
              <a:t>No additional training — evaluation only</a:t>
            </a:r>
            <a:br/>
            <a:r>
              <a:t>3 envs x 2 algos x 5 test noise x 5 seeds = 150 eval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029200"/>
            <a:ext cx="5669280" cy="155448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ACC"/>
                </a:solidFill>
              </a:defRPr>
            </a:pPr>
            <a:r>
              <a:t>[FIGURE PLACEHOLDER]</a:t>
            </a:r>
            <a:br/>
            <a:r>
              <a:t>Safe RL Pareto Fronts</a:t>
            </a:r>
            <a:br/>
            <a:r>
              <a:t>(reward vs constraint cost, 3 panels)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029200"/>
            <a:ext cx="5669280" cy="155448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5303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A043"/>
                </a:solidFill>
              </a:defRPr>
            </a:pPr>
            <a:r>
              <a:t>[FIGURE PLACEHOLDER]</a:t>
            </a:r>
            <a:br/>
            <a:r>
              <a:t>MARL vs Single-Agent Comparison</a:t>
            </a:r>
            <a:br/>
            <a:r>
              <a:t>(grouped bar chart with error bars)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27/35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Evaluation &amp; Reporting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1645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Statistical Rigor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5 seeds (42-46) per experiment</a:t>
            </a:r>
            <a:br/>
            <a:r>
              <a:t>Bootstrap 95% CIs (10,000 resamples)</a:t>
            </a:r>
            <a:br/>
            <a:r>
              <a:t>Interquartile Mean (IQM) per Agarwal et al. NeurIPS'21</a:t>
            </a:r>
            <a:br/>
            <a:r>
              <a:t>Welch's t-test for pairwise comparisons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64008" cy="16459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Domain-Specific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EV: profit ($), CO2 cost ($), violation rate (%)</a:t>
            </a:r>
            <a:br/>
            <a:r>
              <a:t>Building: energy (kWh), temp error (C), comfort viol. (%)</a:t>
            </a:r>
            <a:br/>
            <a:r>
              <a:t>Cogen: fuel cost ($), constraint viol., delivery rate (%)</a:t>
            </a:r>
            <a:br/>
            <a:r>
              <a:t>+ Peak demand for all envs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108960"/>
            <a:ext cx="5669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64008" cy="1645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Normalized Comparisons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93008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Performance retention = reward(noise) / reward(clean) x 100%</a:t>
            </a:r>
            <a:br/>
            <a:r>
              <a:t>Improvement over baseline = (RL - baseline) / |baseline| x 100%</a:t>
            </a:r>
            <a:br/>
            <a:r>
              <a:t>Safe RL efficiency = constraint_reduction vs reward_retention</a:t>
            </a:r>
            <a:br/>
            <a:r>
              <a:t>MARL gain = (MARL - single_agent) / |single_agent| x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669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64008" cy="164592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18211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Visualization Standards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93008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Times New Roman, min 8pt in figures, 300 DPI</a:t>
            </a:r>
            <a:br/>
            <a:r>
              <a:t>Colorblind-friendly palette (Seaborn 'colorblind')</a:t>
            </a:r>
            <a:br/>
            <a:r>
              <a:t>Vary color AND line style for accessibility</a:t>
            </a:r>
            <a:br/>
            <a:r>
              <a:t>Shaded IQR for training curves; error bars for bar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28/35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Required Paper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15544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Fig 1: Benchmark Taxonomy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3 envs -&gt; 3 paradigms -&gt; noise channels -&gt; algorithms</a:t>
            </a:r>
            <a:br/>
            <a:r>
              <a:t>Draw with matplotlib or TikZ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669280" cy="15544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Fig 2: Training Curves (3 panels)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X: timesteps, Y: reward, Lines: algorithms, Shade: IQR</a:t>
            </a:r>
            <a:br/>
            <a:r>
              <a:t>One panel per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926080"/>
            <a:ext cx="5669280" cy="15544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Fig 3: Noise Degradation (3x3 grid)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Rows: envs, Cols: noise types</a:t>
            </a:r>
            <a:br/>
            <a:r>
              <a:t>X: noise level, Y: % retention, Error bars: 95% 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669280" cy="15544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Fig 4: Safe RL Pareto Fronts (3 panels)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X: constraint cost, Y: reward</a:t>
            </a:r>
            <a:br/>
            <a:r>
              <a:t>Points per (algo, cost_limit), Pareto frontier highlighted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663440"/>
            <a:ext cx="5669280" cy="15544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Fig 5: Cross-Paradigm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Grouped bars: DoNothing, RuleBased, PPO, SAC, OnCRPO, MARL</a:t>
            </a:r>
            <a:br/>
            <a:r>
              <a:t>Error bars: 95% CI, color-coded by paradigm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663440"/>
            <a:ext cx="5669280" cy="15544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Fig 6: Distribution Shift (optional)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X: test noise, Y: reward</a:t>
            </a:r>
            <a:br/>
            <a:r>
              <a:t>Lines: trained at different noise levels</a:t>
            </a:r>
            <a:br/>
            <a:r>
              <a:t>Shows in-dist vs out-of-dist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29/35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Required Paper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" cy="118872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Table I: Environment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Episode length, obs/action space dims, reward range,</a:t>
            </a:r>
            <a:br/>
            <a:r>
              <a:t># MARL agents, safe RL cost signal, data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560320"/>
            <a:ext cx="11612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64008" cy="118872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Table II: Main Results (Reward +/- CI)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44368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Paradigm x Algorithm x Environment</a:t>
            </a:r>
            <a:br/>
            <a:r>
              <a:t>Baselines, Std RL, Safe RL, MARL</a:t>
            </a:r>
            <a:br/>
            <a:r>
              <a:t>All with mean +/- 95% 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931920"/>
            <a:ext cx="11612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64008" cy="118872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005072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Table III: Domain-Specific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15968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EV: profit/CO2/violations | Bldg: kWh/temp/comfort</a:t>
            </a:r>
            <a:br/>
            <a:r>
              <a:t>Cogen: fuel/constraints/delivery</a:t>
            </a:r>
            <a:br/>
            <a:r>
              <a:t>Per algorithm, per paradigm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303520"/>
            <a:ext cx="11612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5303520"/>
            <a:ext cx="64008" cy="118872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376672"/>
            <a:ext cx="11292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Table IV: Robustness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87568"/>
            <a:ext cx="11292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Performance retention (%) under noise</a:t>
            </a:r>
            <a:br/>
            <a:r>
              <a:t>Rows: env x algo | Cols: noise type x level</a:t>
            </a:r>
            <a:br/>
            <a:r>
              <a:t>Normalized to clean baseline =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30/35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Paper Structure (6-Page IEEE)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20040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0.75 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Motivation, problem statement, C1-C5 contributions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57400"/>
            <a:ext cx="320040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II. Related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0.75 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488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RL for energy, safe RL, MARL, benchmarks +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926080"/>
            <a:ext cx="320040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III. Problem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1.0 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MDP, CMDP, Dec-POMDP + noise model + Table 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794759"/>
            <a:ext cx="320040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IV. Experimental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861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0.75 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88619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Algorithms, hyperparams, baselines, eval protocol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663440"/>
            <a:ext cx="320040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V. Results &amp;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2.0 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754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Tables II-IV, Figures 2-5, key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532120"/>
            <a:ext cx="320040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VI. 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623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0.75 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623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Insights, limitations, future work, code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31/35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Anticipated Reviewer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"Why not test more algorithms?"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PPO (on-policy) + SAC (off-policy) covers algorithm families.</a:t>
            </a:r>
            <a:br/>
            <a:r>
              <a:t>Extending is future work. 3 safe RL algos add further breadth.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"The environments are not new"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Correct. Contribution is the benchmark protocol and findings,</a:t>
            </a:r>
            <a:br/>
            <a:r>
              <a:t>not the environments. SustainGym cited properly.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"Why not include MPC baseline?"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Rule-based baselines establish RL advantage. MPC assumes</a:t>
            </a:r>
            <a:br/>
            <a:r>
              <a:t>perfect information — inherently unfair comparison. Discussed.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"5 seeds is not enough"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5 seeds with bootstrap CIs is standard per Henderson (AAAI'18).</a:t>
            </a:r>
            <a:br/>
            <a:r>
              <a:t>We also report IQM per Agarwal (NeurIPS'21).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"What about sim-to-real?"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846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Acknowledged as limitation. Noise robustness analysis partially</a:t>
            </a:r>
            <a:br/>
            <a:r>
              <a:t>addresses this by measuring degradation under uncertainty.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"What is the practical impact?"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760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Actionable: "use SAC for noisy actuators"</a:t>
            </a:r>
            <a:br/>
            <a:r>
              <a:t>"safe RL reduces violations X% at Y% reward cost"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32/35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Risk Assessment &amp; Contingencies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</a:defRPr>
            </a:pPr>
            <a:r>
              <a:t>Timeline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HPC queue delays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45920"/>
            <a:ext cx="73152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Submit early; use preemptable partition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Training divergence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10312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Quick-test first; backup hyperparams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OmniSafe crashes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56032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Local test first; fall back to PPOLag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Cogen MARL no converge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301752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Report partial; focus EV+Building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Writing time squeeze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474720"/>
            <a:ext cx="73152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Start writing NOW during Phase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722"/>
                </a:solidFill>
              </a:defRPr>
            </a:pPr>
            <a:r>
              <a:t>Result Risks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RL &lt; rule-based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645920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LOW-MED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Report honestly; RL may win under noise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Safe RL no benefit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2103120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Try more cost limits; report as finding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MARL &lt; single-agent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2560320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Frame: 'naive decomposition hurts'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Noise has no effect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3017520"/>
            <a:ext cx="1005840" cy="3200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Report: 'energy RL surprisingly robust'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Wide CIs, unclear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3474720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Use IQM; increase to 10 seeds if feasible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33/35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Scope Contingency: Three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4114800" cy="50292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1: Minimum Publishable  (~145 runs)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3 envs x 2 algos x clean only x 5 seeds (30 runs)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3 envs x 2 baselines x 5 seeds (30 eval runs)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Obs noise on EV + Building only (60 runs)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Safe RL: EV only, 2 algos (20 runs)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MARL: EV only (5 runs)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4114800" cy="5029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2: Strong Submission (TARGET)  (~735 runs)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Full matrix: 3 envs x 2 algos x 5 noise x 3 types x 5 seeds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Safe RL: 3 envs x 3 algos x 2 limits x 5 seeds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MARL: 3 envs x 1 algo x 5 seeds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Distribution shift experiments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All baselines evaluated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846320"/>
            <a:ext cx="4114800" cy="50292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Tier 3: Aspirational (Top-Tier)  (~2000+ runs)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846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Full Tier 2 + optimization baselines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10 seeds per experiment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All noise combinations (joint)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Ablation on reward_beta, VecNormalize,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34/35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711" y="626364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Timeline to Submission: June 19,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Phase 0: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81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Mar 3-10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34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Multi-seed, tracker, metrics, bug fixes, SLURM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3333"/>
                </a:solidFill>
              </a:defRPr>
            </a:pPr>
            <a:r>
              <a:t>Phase 1: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311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Mar 10-24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842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Do-Nothing + Rule-Based for all 3 envs; evaluate 30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883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7722"/>
                </a:solidFill>
              </a:defRPr>
            </a:pPr>
            <a:r>
              <a:t>Phase 2: Complete Std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809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Mar 24 - Apr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34056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Building + Cogen all noise sweeps; 5 seeds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4381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</a:defRPr>
            </a:pPr>
            <a:r>
              <a:t>Phase 3: Safe RL + MARL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30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Apr 21 - May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83864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OmniSafe for Bldg/Cogen; MARL convergence; dist.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187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A043"/>
                </a:solidFill>
              </a:defRPr>
            </a:pPr>
            <a:r>
              <a:t>Phase 4: Analysis + Figs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May 12-26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336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Aggregate results; generate all figures and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937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</a:defRPr>
            </a:pPr>
            <a:r>
              <a:t>Phase 5: Paper Writing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230367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May 26 - Jun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8347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Draft, integrate results, related work, revision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687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9933"/>
                </a:solidFill>
              </a:defRPr>
            </a:pPr>
            <a:r>
              <a:t>Phase 6: Finalize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98017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Jun 12-19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73328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Proofread, format check, supplementary, 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3333"/>
                </a:solidFill>
              </a:defRPr>
            </a:pPr>
            <a:r>
              <a:t>START WRITING DURING PHASE 0-1 — Don't wait for all results!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35/35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Summary &amp; Immediate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7432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901952"/>
            <a:ext cx="164592" cy="164592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Scope is strong: 3 envs x 3 paradigms + noise decomposition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50592"/>
            <a:ext cx="164592" cy="164592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5 novelty claims identified (N1-N5) with clear if/then mapping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99232"/>
            <a:ext cx="164592" cy="164592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Critical gaps: baselines, statistical rigor, Building/Cogen completion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47871"/>
            <a:ext cx="164592" cy="164592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~735 experiments needed for strong submission (Tier 2)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96512"/>
            <a:ext cx="164592" cy="164592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Timeline tight but feasible: 3.5 months to June 19 deadline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722"/>
                </a:solidFill>
              </a:defRPr>
            </a:pPr>
            <a:r>
              <a:t>This Week's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1. Implement Do-Nothing + Rule-Based baselines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2. Add multi-seed support to training scripts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3. Add domain metric extraction to stdrl_testing.py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4. Apply bug fixes (Omnisafe, marl_tr_co)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5. Create SLURM array job templates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</a:rPr>
              <a:t>6. Start writing Introduction + Related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36/35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4413</Words>
  <Application>Microsoft Office PowerPoint</Application>
  <PresentationFormat>Widescreen</PresentationFormat>
  <Paragraphs>611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Koruturk, Mehmet</cp:lastModifiedBy>
  <cp:revision>2</cp:revision>
  <dcterms:created xsi:type="dcterms:W3CDTF">2013-01-27T09:14:16Z</dcterms:created>
  <dcterms:modified xsi:type="dcterms:W3CDTF">2026-03-03T21:38:14Z</dcterms:modified>
  <cp:category/>
</cp:coreProperties>
</file>