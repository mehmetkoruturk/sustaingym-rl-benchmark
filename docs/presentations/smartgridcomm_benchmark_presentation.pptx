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6" d="100"/>
          <a:sy n="156" d="100"/>
        </p:scale>
        <p:origin x="456" y="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716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Benchmarking Reinforcement Learning for</a:t>
            </a:r>
            <a:br/>
            <a:r>
              <a:t>Sustainable Energy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7ACC"/>
                </a:solidFill>
              </a:defRPr>
            </a:pPr>
            <a:r>
              <a:t>Standard RL  |  Safe RL  |  Multi-Agent RL  |  Noise Robustness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931920"/>
            <a:ext cx="2743200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</a:defRPr>
            </a:pPr>
            <a:r>
              <a:t>Mehmet Koruturk</a:t>
            </a:r>
            <a:br/>
            <a:r>
              <a:t>Virginia Tech, RoleLab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Target: IEEE SmartGridComm 2026  |  Deadline: June 19,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4572000"/>
            <a:ext cx="1280160" cy="914400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EV Charging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35440" y="4572000"/>
            <a:ext cx="1280160" cy="91440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Building HVAC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698480" y="4572000"/>
            <a:ext cx="1280160" cy="914400"/>
          </a:xfrm>
          <a:prstGeom prst="round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Cogeneration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12191695" cy="8229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Project Overview &amp;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ACC"/>
                </a:solidFill>
              </a:defRPr>
            </a:pPr>
            <a:r>
              <a:t>Research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</a:defRPr>
            </a:pPr>
            <a:r>
              <a:t>How do different RL paradigms perform across diverse</a:t>
            </a:r>
            <a:br/>
            <a:r>
              <a:t>sustainable energy domains under realistic conditions?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</a:defRPr>
            </a:pPr>
            <a:r>
              <a:t>Experimental Matrix: 3 Environments x 3 Paradigms x 3 Noise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A043"/>
                </a:solidFill>
              </a:defRPr>
            </a:pPr>
            <a:r>
              <a:t>Standard RL</a:t>
            </a:r>
            <a:br/>
            <a:r>
              <a:t>(PPO, SAC, TD3 via SB3)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3657600"/>
            <a:ext cx="274320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A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EV Charging</a:t>
            </a:r>
            <a:br/>
            <a:r>
              <a:t>(54 stations, ACN-Data)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657600"/>
            <a:ext cx="274320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A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Building HVAC</a:t>
            </a:r>
            <a:br/>
            <a:r>
              <a:t>(RC thermal model)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0" y="3657600"/>
            <a:ext cx="274320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A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Cogeneration</a:t>
            </a:r>
            <a:br/>
            <a:r>
              <a:t>(ONNX surrogate)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634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ACC"/>
                </a:solidFill>
              </a:defRPr>
            </a:pPr>
            <a:r>
              <a:t>Safe RL</a:t>
            </a:r>
            <a:br/>
            <a:r>
              <a:t>(CMDP via OmniSafe)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4663440"/>
            <a:ext cx="274320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EV Charging</a:t>
            </a:r>
            <a:br/>
            <a:r>
              <a:t>(54 stations, ACN-Data)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4663440"/>
            <a:ext cx="274320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Building HVAC</a:t>
            </a:r>
            <a:br/>
            <a:r>
              <a:t>(RC thermal model)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4663440"/>
            <a:ext cx="274320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Cogeneration</a:t>
            </a:r>
            <a:br/>
            <a:r>
              <a:t>(ONNX surrogate)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66928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8D2A"/>
                </a:solidFill>
              </a:defRPr>
            </a:pPr>
            <a:r>
              <a:t>Multi-Agent RL</a:t>
            </a:r>
            <a:br/>
            <a:r>
              <a:t>(RLlib + PettingZoo)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5669280"/>
            <a:ext cx="274320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88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EV Charging</a:t>
            </a:r>
            <a:br/>
            <a:r>
              <a:t>(54 stations, ACN-Data)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5669280"/>
            <a:ext cx="274320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88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Building HVAC</a:t>
            </a:r>
            <a:br/>
            <a:r>
              <a:t>(RC thermal model)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5669280"/>
            <a:ext cx="274320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88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Cogeneration</a:t>
            </a:r>
            <a:br/>
            <a:r>
              <a:t>(ONNX surrogate)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12191695" cy="8229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Three SustainGym Environments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371600"/>
            <a:ext cx="2011680" cy="1645920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EV Charging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1417320"/>
            <a:ext cx="4389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Source: ACN-Data (Caltech)</a:t>
            </a:r>
            <a:br/>
            <a:r>
              <a:t>Episode: 288 steps (24h, 5-min)</a:t>
            </a:r>
            <a:br/>
            <a:r>
              <a:t>Stations: 54</a:t>
            </a:r>
            <a:br/>
            <a:r>
              <a:t>Action: Continuous [0,32] Amps</a:t>
            </a:r>
            <a:br/>
            <a:r>
              <a:t>Reward: profit - carbon - excess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41732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Obs: Dict{timestep, departures,</a:t>
            </a:r>
            <a:br/>
            <a:r>
              <a:t>demands, MOER, forecasted_MOER}</a:t>
            </a:r>
            <a:br/>
            <a:r>
              <a:t>Safe RL cost: excess_charge * 100</a:t>
            </a:r>
            <a:br/>
            <a:r>
              <a:t>MARL: 54 agents (1 per station)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3200400"/>
            <a:ext cx="2011680" cy="164592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Building HVAC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3246120"/>
            <a:ext cx="4389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Source: EnergyPlus RC model</a:t>
            </a:r>
            <a:br/>
            <a:r>
              <a:t>Episode: 288 steps (24h, 5-min)</a:t>
            </a:r>
            <a:br/>
            <a:r>
              <a:t>Zones: Configurable (OfficeSmall)</a:t>
            </a:r>
            <a:br/>
            <a:r>
              <a:t>Action: Continuous [-1,1] per zone</a:t>
            </a:r>
            <a:br/>
            <a:r>
              <a:t>Reward: -(energy + temp_error)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324612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Obs: Box(n+4) zone temps +</a:t>
            </a:r>
            <a:br/>
            <a:r>
              <a:t>weather + occupancy</a:t>
            </a:r>
            <a:br/>
            <a:r>
              <a:t>Safe RL cost: temp violations</a:t>
            </a:r>
            <a:br/>
            <a:r>
              <a:t>MARL: 1 agent per AC zone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5029200"/>
            <a:ext cx="2011680" cy="1645920"/>
          </a:xfrm>
          <a:prstGeom prst="round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Cogeneration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5074920"/>
            <a:ext cx="4389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Source: ONNX surrogate model</a:t>
            </a:r>
            <a:br/>
            <a:r>
              <a:t>Episode: 96 steps (1 day)</a:t>
            </a:r>
            <a:br/>
            <a:r>
              <a:t>Components: 3 GTs + ST + aux</a:t>
            </a:r>
            <a:br/>
            <a:r>
              <a:t>Action: Mixed cont/discrete (15 keys)</a:t>
            </a:r>
            <a:br/>
            <a:r>
              <a:t>Reward: -(fuel + ramp + penalties)/1e7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507492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Obs: Dict{Time, Prev_Action,</a:t>
            </a:r>
            <a:br/>
            <a:r>
              <a:t>ambient, targets, prices}</a:t>
            </a:r>
            <a:br/>
            <a:r>
              <a:t>Safe RL cost: dyn_cv / 1e7</a:t>
            </a:r>
            <a:br/>
            <a:r>
              <a:t>MARL: 4 agents (GT1,GT2,GT3,ST)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12191695" cy="8229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Noise Robustness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33333"/>
                </a:solidFill>
              </a:defRPr>
            </a:pPr>
            <a:r>
              <a:t>Three Independent Noise Channels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68580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73152" cy="12801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210312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</a:defRPr>
            </a:pPr>
            <a:r>
              <a:t>Observation Noise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68880"/>
            <a:ext cx="6492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Applied after env step, before agent observes</a:t>
            </a:r>
            <a:br/>
            <a:r>
              <a:t>Simulates sensor uncertainty, forecast errors</a:t>
            </a:r>
            <a:br/>
            <a:r>
              <a:t>Scales: 0.0, 0.05, 0.10, 0.20, 0.40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2377440"/>
            <a:ext cx="3657600" cy="54864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agent sees noisy state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474720"/>
            <a:ext cx="68580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3474720"/>
            <a:ext cx="73152" cy="128016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356616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A043"/>
                </a:solidFill>
              </a:defRPr>
            </a:pPr>
            <a:r>
              <a:t>Action Noise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931920"/>
            <a:ext cx="6492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Applied before env processes action</a:t>
            </a:r>
            <a:br/>
            <a:r>
              <a:t>Simulates actuator imprecision, communication errors</a:t>
            </a:r>
            <a:br/>
            <a:r>
              <a:t>Scales: 0.0, 0.05, 0.10, 0.20, 0.40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3840480"/>
            <a:ext cx="3657600" cy="548640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env receives noisy action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937760"/>
            <a:ext cx="68580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4937760"/>
            <a:ext cx="73152" cy="1280160"/>
          </a:xfrm>
          <a:prstGeom prst="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502920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8D2A"/>
                </a:solidFill>
              </a:defRPr>
            </a:pPr>
            <a:r>
              <a:t>Environment Noise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394960"/>
            <a:ext cx="6492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Applied in dynamics/reward computation</a:t>
            </a:r>
            <a:br/>
            <a:r>
              <a:t>Simulates real-world stochasticity, model mismatch</a:t>
            </a:r>
            <a:br/>
            <a:r>
              <a:t>Scales: 0.0, 0.05, 0.10, 0.20, 0.40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5303520"/>
            <a:ext cx="3657600" cy="548640"/>
          </a:xfrm>
          <a:prstGeom prst="round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dynamics are stochastic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3557" y="6336363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C3333"/>
                </a:solidFill>
              </a:defRPr>
            </a:pPr>
            <a:r>
              <a:rPr dirty="0"/>
              <a:t>Key Question: Which noise type degrades performance most? (Hypothesis: env noise &gt; </a:t>
            </a:r>
            <a:r>
              <a:rPr dirty="0" err="1"/>
              <a:t>obs</a:t>
            </a:r>
            <a:r>
              <a:rPr dirty="0"/>
              <a:t> noise &gt; action noise)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12191695" cy="8229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Publication Feasibility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A043"/>
                </a:solidFill>
              </a:defRPr>
            </a:pPr>
            <a:r>
              <a:t>STRENGTHS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</a:rPr>
              <a:t>+ 3 diverse environments spanning EV, building, cogen domains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</a:rPr>
              <a:t>+ 3 evaluation axes (standard RL + safe RL + MARL) — rare in literature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</a:rPr>
              <a:t>+ Structured noise decomposition (obs / action / env) — novel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</a:rPr>
              <a:t>+ Production-quality codebase (SB3 + OmniSafe + RLlib)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</a:rPr>
              <a:t>+ Realistic env models (ACN-Data, EnergyPlus RC, ONNX surrogate)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</a:rPr>
              <a:t>+ Extensive EVCharging results (15+ safe RL algorithms tested)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C3333"/>
                </a:solidFill>
              </a:defRPr>
            </a:pPr>
            <a:r>
              <a:t>GAPS TO ADDRESS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82880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</a:rPr>
              <a:t>- No non-RL baselines (rule-based, MPC) — CRITICAL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</a:rPr>
              <a:t>- Inconsistent experimental completeness across envs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</a:rPr>
              <a:t>- No documented statistical rigor (seeds, CIs)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</a:rPr>
              <a:t>- Missing domain-specific metrics beyond reward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</a:rPr>
              <a:t>- Env noise experiments incomplete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</a:rPr>
              <a:t>- No cross-axis (StdRL vs SafeRL vs MARL) comparison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303520"/>
            <a:ext cx="11247120" cy="1097280"/>
          </a:xfrm>
          <a:prstGeom prst="roundRect">
            <a:avLst/>
          </a:prstGeom>
          <a:solidFill>
            <a:srgbClr val="E8F4FD"/>
          </a:solidFill>
          <a:ln w="254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defRPr sz="2000" b="1">
                <a:solidFill>
                  <a:srgbClr val="007ACC"/>
                </a:solidFill>
              </a:defRPr>
            </a:pPr>
            <a:r>
              <a:t>VERDICT: Publishable at SmartGridComm with targeted improvements. Scope is right; execution needs completing.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12191695" cy="8229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Literature Positioning &amp;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ACC"/>
                </a:solidFill>
              </a:defRPr>
            </a:pPr>
            <a:r>
              <a:t>Existing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</a:defRPr>
            </a:pPr>
            <a:r>
              <a:t>SustainGym (NeurIPS'23)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9202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3 envs, basic RL baselines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92024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A043"/>
                </a:solidFill>
              </a:defRPr>
            </a:pPr>
            <a:r>
              <a:t>We extend with safe RL, MARL, noise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</a:defRPr>
            </a:pPr>
            <a:r>
              <a:t>CityLearn (BuildSys'19)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6060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Buildings only, MARL 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260604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A043"/>
                </a:solidFill>
              </a:defRPr>
            </a:pPr>
            <a:r>
              <a:t>We cover 3 domains, add safe RL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</a:defRPr>
            </a:pPr>
            <a:r>
              <a:t>BOPTEST (JBPS'21)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2918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Buildings only, includes MPC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329184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A043"/>
                </a:solidFill>
              </a:defRPr>
            </a:pPr>
            <a:r>
              <a:t>We add RL benchmarking protocol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776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</a:defRPr>
            </a:pPr>
            <a:r>
              <a:t>Sinergym (BuildSys'21)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9776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EnergyPlus RL, single domain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397764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A043"/>
                </a:solidFill>
              </a:defRPr>
            </a:pPr>
            <a:r>
              <a:t>We are multi-domain, multi-paradigm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6634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</a:defRPr>
            </a:pPr>
            <a:r>
              <a:t>Grid2Op / L2RPN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46634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Transmission grid, different domain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466344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A043"/>
                </a:solidFill>
              </a:defRPr>
            </a:pPr>
            <a:r>
              <a:t>Complementary; different 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303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ACC"/>
                </a:solidFill>
              </a:defRPr>
            </a:pPr>
            <a:r>
              <a:t>Our Unique Position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7607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</a:rPr>
              <a:t>No existing benchmark covers EV + Building + Cogen under a unified protocol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</a:rPr>
              <a:t>No systematic safe RL benchmark across multiple energy domains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</a:rPr>
              <a:t>No structured obs/action/env noise decomposition for energy RL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</a:rPr>
              <a:t>No paper compares standard RL, safe RL, and MARL on the same environments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12191695" cy="8229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Gap Analysis: What Must Be Done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417320"/>
            <a:ext cx="1097280" cy="457200"/>
          </a:xfrm>
          <a:prstGeom prst="round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CRITICAL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1371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</a:defRPr>
            </a:pPr>
            <a:r>
              <a:t>P0: Non-RL Baselines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37160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Rule-based + optimization baseline per env. Answers 'why RL?'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167128"/>
            <a:ext cx="1097280" cy="457200"/>
          </a:xfrm>
          <a:prstGeom prst="round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CRITICAL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12140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</a:defRPr>
            </a:pPr>
            <a:r>
              <a:t>P0: Statistical Rigor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2121408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5+ seeds per experiment, bootstrap 95% CIs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2916936"/>
            <a:ext cx="1097280" cy="457200"/>
          </a:xfrm>
          <a:prstGeom prst="round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CRITICAL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87121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</a:defRPr>
            </a:pPr>
            <a:r>
              <a:t>P0: Domain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871216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Energy cost ($), CO2 (kg), constraint violation (%),</a:t>
            </a:r>
            <a:br/>
            <a:r>
              <a:t>comfort index, peak demand (kW)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3666744"/>
            <a:ext cx="1097280" cy="457200"/>
          </a:xfrm>
          <a:prstGeom prst="round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62102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</a:defRPr>
            </a:pPr>
            <a:r>
              <a:t>P0: Complete All Envs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621024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Building &amp; Cogen have gaps in noise sweeps,</a:t>
            </a:r>
            <a:br/>
            <a:r>
              <a:t>safe RL, and MARL training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416552"/>
            <a:ext cx="1097280" cy="457200"/>
          </a:xfrm>
          <a:prstGeom prst="round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HIGH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3708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</a:defRPr>
            </a:pPr>
            <a:r>
              <a:t>P1: Cross-Axis Comparison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4370832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StdRL vs SafeRL vs MARL on each env — the</a:t>
            </a:r>
            <a:br/>
            <a:r>
              <a:t>central deliverable table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5166359"/>
            <a:ext cx="1097280" cy="457200"/>
          </a:xfrm>
          <a:prstGeom prst="round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2063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</a:defRPr>
            </a:pPr>
            <a:r>
              <a:t>P1: Distribution Shift 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5120639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Train clean, test noisy — most practical</a:t>
            </a:r>
            <a:br/>
            <a:r>
              <a:t>robustness evaluation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5916168"/>
            <a:ext cx="1097280" cy="45720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MEDIUM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58704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</a:defRPr>
            </a:pPr>
            <a:r>
              <a:t>P2: Noise Decomposition Ablation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5870448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Show obs vs action vs env noise have different</a:t>
            </a:r>
            <a:br/>
            <a:r>
              <a:t>impact profiles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12191695" cy="8229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Current Experiment Completion Status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2743200" cy="457200"/>
          </a:xfrm>
          <a:prstGeom prst="rect">
            <a:avLst/>
          </a:prstGeom>
          <a:solidFill>
            <a:srgbClr val="005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Experiment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1463040"/>
            <a:ext cx="2560320" cy="457200"/>
          </a:xfrm>
          <a:prstGeom prst="rect">
            <a:avLst/>
          </a:prstGeom>
          <a:solidFill>
            <a:srgbClr val="005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EVCharging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463040"/>
            <a:ext cx="2560320" cy="457200"/>
          </a:xfrm>
          <a:prstGeom prst="rect">
            <a:avLst/>
          </a:prstGeom>
          <a:solidFill>
            <a:srgbClr val="005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Building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0" y="1463040"/>
            <a:ext cx="2560320" cy="457200"/>
          </a:xfrm>
          <a:prstGeom prst="rect">
            <a:avLst/>
          </a:prstGeom>
          <a:solidFill>
            <a:srgbClr val="005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Cogen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965960"/>
            <a:ext cx="2743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l">
              <a:defRPr sz="1300" b="1">
                <a:solidFill>
                  <a:srgbClr val="333333"/>
                </a:solidFill>
              </a:defRPr>
            </a:pPr>
            <a:r>
              <a:t>Std RL (PPO/SAC/TD3)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1965960"/>
            <a:ext cx="2560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EA043"/>
                </a:solidFill>
              </a:defRPr>
            </a:pPr>
            <a:r>
              <a:t>Complete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965960"/>
            <a:ext cx="2560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E88D2A"/>
                </a:solidFill>
              </a:defRPr>
            </a:pPr>
            <a:r>
              <a:t>Partial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1965960"/>
            <a:ext cx="2560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E88D2A"/>
                </a:solidFill>
              </a:defRPr>
            </a:pPr>
            <a:r>
              <a:t>Partial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468880"/>
            <a:ext cx="274320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l">
              <a:defRPr sz="1300" b="1">
                <a:solidFill>
                  <a:srgbClr val="333333"/>
                </a:solidFill>
              </a:defRPr>
            </a:pPr>
            <a:r>
              <a:t>Obs Noise Sweep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2468880"/>
            <a:ext cx="256032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EA043"/>
                </a:solidFill>
              </a:defRPr>
            </a:pPr>
            <a:r>
              <a:t>Complete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468880"/>
            <a:ext cx="256032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E88D2A"/>
                </a:solidFill>
              </a:defRPr>
            </a:pPr>
            <a:r>
              <a:t>Partial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2468880"/>
            <a:ext cx="256032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E88D2A"/>
                </a:solidFill>
              </a:defRPr>
            </a:pPr>
            <a:r>
              <a:t>Partial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971800"/>
            <a:ext cx="2743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l">
              <a:defRPr sz="1300" b="1">
                <a:solidFill>
                  <a:srgbClr val="333333"/>
                </a:solidFill>
              </a:defRPr>
            </a:pPr>
            <a:r>
              <a:t>Action Noise Sweep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2971800"/>
            <a:ext cx="2560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EA043"/>
                </a:solidFill>
              </a:defRPr>
            </a:pPr>
            <a:r>
              <a:t>Complete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971800"/>
            <a:ext cx="2560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E88D2A"/>
                </a:solidFill>
              </a:defRPr>
            </a:pPr>
            <a:r>
              <a:t>Partial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2971800"/>
            <a:ext cx="2560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CC3333"/>
                </a:solidFill>
              </a:defRPr>
            </a:pPr>
            <a:r>
              <a:t>Missing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474720"/>
            <a:ext cx="274320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l">
              <a:defRPr sz="1300" b="1">
                <a:solidFill>
                  <a:srgbClr val="333333"/>
                </a:solidFill>
              </a:defRPr>
            </a:pPr>
            <a:r>
              <a:t>Env Noise Sweep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0" y="3474720"/>
            <a:ext cx="256032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E88D2A"/>
                </a:solidFill>
              </a:defRPr>
            </a:pPr>
            <a:r>
              <a:t>In Progress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3474720"/>
            <a:ext cx="256032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CC3333"/>
                </a:solidFill>
              </a:defRPr>
            </a:pPr>
            <a:r>
              <a:t>Missing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0" y="3474720"/>
            <a:ext cx="256032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CC3333"/>
                </a:solidFill>
              </a:defRPr>
            </a:pPr>
            <a:r>
              <a:t>Missing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977640"/>
            <a:ext cx="2743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l">
              <a:defRPr sz="1300" b="1">
                <a:solidFill>
                  <a:srgbClr val="333333"/>
                </a:solidFill>
              </a:defRPr>
            </a:pPr>
            <a:r>
              <a:t>Safe RL (OmniSafe)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3977640"/>
            <a:ext cx="2560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EA043"/>
                </a:solidFill>
              </a:defRPr>
            </a:pPr>
            <a:r>
              <a:t>Extensive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977640"/>
            <a:ext cx="2560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E88D2A"/>
                </a:solidFill>
              </a:defRPr>
            </a:pPr>
            <a:r>
              <a:t>Early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3977640"/>
            <a:ext cx="2560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E88D2A"/>
                </a:solidFill>
              </a:defRPr>
            </a:pPr>
            <a:r>
              <a:t>Incomplete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480560"/>
            <a:ext cx="274320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l">
              <a:defRPr sz="1300" b="1">
                <a:solidFill>
                  <a:srgbClr val="333333"/>
                </a:solidFill>
              </a:defRPr>
            </a:pPr>
            <a:r>
              <a:t>MARL (RLlib)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0" y="4480560"/>
            <a:ext cx="256032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E88D2A"/>
                </a:solidFill>
              </a:defRPr>
            </a:pPr>
            <a:r>
              <a:t>APPO only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4480560"/>
            <a:ext cx="256032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E88D2A"/>
                </a:solidFill>
              </a:defRPr>
            </a:pPr>
            <a:r>
              <a:t>SAC only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0" y="4480560"/>
            <a:ext cx="256032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E88D2A"/>
                </a:solidFill>
              </a:defRPr>
            </a:pPr>
            <a:r>
              <a:t>PPO (100 iter)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4983480"/>
            <a:ext cx="2743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l">
              <a:defRPr sz="1300" b="1">
                <a:solidFill>
                  <a:srgbClr val="333333"/>
                </a:solidFill>
              </a:defRPr>
            </a:pPr>
            <a:r>
              <a:t>Non-RL Baselines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0" y="4983480"/>
            <a:ext cx="2560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CC3333"/>
                </a:solidFill>
              </a:defRPr>
            </a:pPr>
            <a:r>
              <a:t>Missing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4983480"/>
            <a:ext cx="2560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CC3333"/>
                </a:solidFill>
              </a:defRPr>
            </a:pPr>
            <a:r>
              <a:t>Missing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0" y="4983480"/>
            <a:ext cx="2560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CC3333"/>
                </a:solidFill>
              </a:defRPr>
            </a:pPr>
            <a:r>
              <a:t>Missing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5486400"/>
            <a:ext cx="274320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l">
              <a:defRPr sz="1300" b="1">
                <a:solidFill>
                  <a:srgbClr val="333333"/>
                </a:solidFill>
              </a:defRPr>
            </a:pPr>
            <a:r>
              <a:t>Multi-seed (5+)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0" y="5486400"/>
            <a:ext cx="256032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666666"/>
                </a:solidFill>
              </a:defRPr>
            </a:pPr>
            <a:r>
              <a:t>Unknown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5486400"/>
            <a:ext cx="256032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666666"/>
                </a:solidFill>
              </a:defRPr>
            </a:pPr>
            <a:r>
              <a:t>Unknown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0" y="5486400"/>
            <a:ext cx="256032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666666"/>
                </a:solidFill>
              </a:defRPr>
            </a:pPr>
            <a:r>
              <a:t>Unknown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5989320"/>
            <a:ext cx="2743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l">
              <a:defRPr sz="1300" b="1">
                <a:solidFill>
                  <a:srgbClr val="333333"/>
                </a:solidFill>
              </a:defRPr>
            </a:pPr>
            <a:r>
              <a:t>Domain Metrics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0" y="5989320"/>
            <a:ext cx="2560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E88D2A"/>
                </a:solidFill>
              </a:defRPr>
            </a:pPr>
            <a:r>
              <a:t>Partial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5989320"/>
            <a:ext cx="2560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CC3333"/>
                </a:solidFill>
              </a:defRPr>
            </a:pPr>
            <a:r>
              <a:t>Missing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5989320"/>
            <a:ext cx="2560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CC3333"/>
                </a:solidFill>
              </a:defRPr>
            </a:pPr>
            <a:r>
              <a:t>Missing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12191695" cy="8229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Proposed Contributions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463040"/>
            <a:ext cx="548640" cy="548640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</a:defRPr>
            </a:pPr>
            <a:r>
              <a:t>Unified Multi-Paradigm Evaluation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737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First benchmark comparing standard RL, safe RL, and MARL</a:t>
            </a:r>
            <a:br/>
            <a:r>
              <a:t>across multiple energy domains with standardized metrics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2514600"/>
            <a:ext cx="548640" cy="548640"/>
          </a:xfrm>
          <a:prstGeom prst="ellipse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423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</a:defRPr>
            </a:pPr>
            <a:r>
              <a:t>Systematic Noise Robustness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788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Decomposed obs/action/env noise evaluation revealing which</a:t>
            </a:r>
            <a:br/>
            <a:r>
              <a:t>noise type impacts energy RL most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3566160"/>
            <a:ext cx="548640" cy="548640"/>
          </a:xfrm>
          <a:prstGeom prst="ellipse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474720"/>
            <a:ext cx="49297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33333"/>
                </a:solidFill>
              </a:defRPr>
            </a:pPr>
            <a:r>
              <a:rPr dirty="0"/>
              <a:t>First Safe RL Benchmark for EV Charging &amp;</a:t>
            </a:r>
            <a:r>
              <a:rPr lang="en-US" dirty="0"/>
              <a:t> Cogen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1188720" y="3840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rPr dirty="0"/>
              <a:t>CMDP formulation with </a:t>
            </a:r>
            <a:r>
              <a:rPr dirty="0" err="1"/>
              <a:t>OmniSafe</a:t>
            </a:r>
            <a:r>
              <a:rPr dirty="0"/>
              <a:t> showing constraint</a:t>
            </a:r>
            <a:br>
              <a:rPr dirty="0"/>
            </a:br>
            <a:r>
              <a:rPr dirty="0"/>
              <a:t>violation vs. reward tradeoff (Pareto analysis)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4617719"/>
            <a:ext cx="548640" cy="548640"/>
          </a:xfrm>
          <a:prstGeom prst="ellipse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52627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</a:defRPr>
            </a:pPr>
            <a:r>
              <a:t>Cross-Domain MARL Comparison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892039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Single-agent vs multi-agent across EV (54 agents),</a:t>
            </a:r>
            <a:br/>
            <a:r>
              <a:t>building (per-zone), cogen (4 agents)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5669280"/>
            <a:ext cx="548640" cy="548640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577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</a:defRPr>
            </a:pPr>
            <a:r>
              <a:t>Open-Source Benchmark Suite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943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Reproducible training, evaluation, and reporting scripts</a:t>
            </a:r>
            <a:br/>
            <a:r>
              <a:t>with documented protocol and code release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12191695" cy="8229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Novelty Assessment &amp; Strengthening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8D2A"/>
                </a:solidFill>
              </a:defRPr>
            </a:pPr>
            <a:r>
              <a:t>Current Novelty: MODERATE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Environments are published (SustainGym NeurIPS'23). Algorithms are standard.</a:t>
            </a:r>
            <a:br/>
            <a:r>
              <a:t>Novelty must come from the benchmark protocol and insights it generates.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</a:defRPr>
            </a:pPr>
            <a:r>
              <a:t>If We Add...                                                            We Can Claim...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291840"/>
            <a:ext cx="50292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3291840"/>
            <a:ext cx="73152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33832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</a:defRPr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3407214"/>
            <a:ext cx="466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6666"/>
                </a:solidFill>
              </a:defRPr>
            </a:pPr>
            <a:r>
              <a:rPr lang="en-US" dirty="0"/>
              <a:t>Non-RL baselines (rule-based + LP/MPC)</a:t>
            </a:r>
          </a:p>
          <a:p>
            <a:pPr algn="l">
              <a:defRPr sz="1400" b="0">
                <a:solidFill>
                  <a:srgbClr val="666666"/>
                </a:solidFill>
              </a:defRPr>
            </a:pPr>
            <a:endParaRPr dirty="0"/>
          </a:p>
        </p:txBody>
      </p:sp>
      <p:sp>
        <p:nvSpPr>
          <p:cNvPr id="10" name="Right Arrow 9"/>
          <p:cNvSpPr/>
          <p:nvPr/>
        </p:nvSpPr>
        <p:spPr>
          <a:xfrm>
            <a:off x="5669280" y="3383280"/>
            <a:ext cx="457200" cy="365760"/>
          </a:xfrm>
          <a:prstGeom prst="rightArrow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09360" y="3291840"/>
            <a:ext cx="54864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3291840"/>
            <a:ext cx="73152" cy="54864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3383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A043"/>
                </a:solidFill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3454468"/>
            <a:ext cx="512064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"RL outperforms optimization under uncertainty"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977640"/>
            <a:ext cx="50292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3977640"/>
            <a:ext cx="73152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40690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</a:defRPr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4201637"/>
            <a:ext cx="466344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rPr dirty="0"/>
              <a:t>Distribution shift experiments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669280" y="4069080"/>
            <a:ext cx="457200" cy="365760"/>
          </a:xfrm>
          <a:prstGeom prst="rightArrow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309360" y="3977640"/>
            <a:ext cx="54864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09360" y="3977640"/>
            <a:ext cx="73152" cy="54864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37960" y="40690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A043"/>
                </a:solidFill>
              </a:defRPr>
            </a:pP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37960" y="4140268"/>
            <a:ext cx="512064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"Policy robustness analysis under deployment conditions"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663440"/>
            <a:ext cx="50292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" y="4663440"/>
            <a:ext cx="73152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47548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</a:defRPr>
            </a:pP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28758" y="4869027"/>
            <a:ext cx="466344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rPr dirty="0"/>
              <a:t>Cross-paradigm comparison table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5669280" y="4754880"/>
            <a:ext cx="457200" cy="365760"/>
          </a:xfrm>
          <a:prstGeom prst="rightArrow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309360" y="4663440"/>
            <a:ext cx="54864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309360" y="4663440"/>
            <a:ext cx="73152" cy="54864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37960" y="47548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A043"/>
                </a:solidFill>
              </a:defRPr>
            </a:pPr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37960" y="4826068"/>
            <a:ext cx="512064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"Safe RL reduces violations X% at Y% reward cost"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349240"/>
            <a:ext cx="50292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57200" y="5349240"/>
            <a:ext cx="73152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85800" y="54406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</a:defRPr>
            </a:pPr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85800" y="5499595"/>
            <a:ext cx="466344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rPr dirty="0"/>
              <a:t>Open-source benchmark release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5669280" y="5440680"/>
            <a:ext cx="457200" cy="365760"/>
          </a:xfrm>
          <a:prstGeom prst="rightArrow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309360" y="5349240"/>
            <a:ext cx="54864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309360" y="5349240"/>
            <a:ext cx="73152" cy="54864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37960" y="54406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A043"/>
                </a:solidFill>
              </a:defRPr>
            </a:pPr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537960" y="5511868"/>
            <a:ext cx="512064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"Reproducible benchmark suite as community artifact"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6035040"/>
            <a:ext cx="50292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57200" y="6035040"/>
            <a:ext cx="73152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85800" y="61264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</a:defRPr>
            </a:pPr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85800" y="6179257"/>
            <a:ext cx="466344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rPr dirty="0"/>
              <a:t>Pareto analysis for safe RL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5669280" y="6126480"/>
            <a:ext cx="457200" cy="365760"/>
          </a:xfrm>
          <a:prstGeom prst="rightArrow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6309360" y="6035040"/>
            <a:ext cx="54864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309360" y="6035040"/>
            <a:ext cx="73152" cy="54864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537960" y="61264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A043"/>
                </a:solidFill>
              </a:defRPr>
            </a:pPr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537960" y="6197668"/>
            <a:ext cx="512064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"Tunable safety-reward tradeoff characterization"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12191695" cy="8229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Required Baselines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C3333"/>
                </a:solidFill>
              </a:defRPr>
            </a:pPr>
            <a:r>
              <a:t>Every benchmark must answer: "Why use RL at all?"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103120"/>
            <a:ext cx="3200400" cy="548640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Do-Nothing / Fixed  [Effort: Trivial]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2103120"/>
            <a:ext cx="7772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EV: Charge at max rate</a:t>
            </a:r>
            <a:br/>
            <a:r>
              <a:t>Building: Fixed thermostat setpoint</a:t>
            </a:r>
            <a:br/>
            <a:r>
              <a:t>Cogen: Nominal operating point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3200400" cy="54864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Rule-Based / Heuristic  [Effort: Low]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3657600"/>
            <a:ext cx="7772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EV: LLLF or proportional to demand</a:t>
            </a:r>
            <a:br/>
            <a:r>
              <a:t>Building: Deadband controller (+/- 1C)</a:t>
            </a:r>
            <a:br/>
            <a:r>
              <a:t>Cogen: Load-following proportional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212080"/>
            <a:ext cx="3200400" cy="548640"/>
          </a:xfrm>
          <a:prstGeom prst="round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Optimization (LP/MPC)  [Effort: Medium]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5212080"/>
            <a:ext cx="7772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EV: LP for min-cost scheduling</a:t>
            </a:r>
            <a:br/>
            <a:r>
              <a:t>Building: 1-step MPC with RC model</a:t>
            </a:r>
            <a:br/>
            <a:r>
              <a:t>Cogen: LP for fuel minimization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CC"/>
                </a:solidFill>
              </a:defRPr>
            </a:pPr>
            <a:r>
              <a:t>Minimum: Do-Nothing + Rule-Based for all 3 envs (feasible before deadline)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12191695" cy="8229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Standardized Evaluation Protocol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371600"/>
            <a:ext cx="5669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73152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</a:defRPr>
            </a:pPr>
            <a:r>
              <a:t>Statistical Rigor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5 seeds per experiment (42-46)</a:t>
            </a:r>
            <a:br/>
            <a:r>
              <a:t>Bootstrap 95% confidence intervals</a:t>
            </a:r>
            <a:br/>
            <a:r>
              <a:t>Interquartile mean (per Agarwal et al. NeurIPS'21)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669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0" y="1371600"/>
            <a:ext cx="73152" cy="137160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463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A043"/>
                </a:solidFill>
              </a:defRPr>
            </a:pPr>
            <a:r>
              <a:t>Domain-Specific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Energy cost ($)  |  CO2 emissions (kg)</a:t>
            </a:r>
            <a:br/>
            <a:r>
              <a:t>Constraint violation rate (%)  |  Peak demand (kW)</a:t>
            </a:r>
            <a:br/>
            <a:r>
              <a:t>Comfort / service quality index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3017520"/>
            <a:ext cx="5669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" y="3017520"/>
            <a:ext cx="73152" cy="1371600"/>
          </a:xfrm>
          <a:prstGeom prst="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31089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8D2A"/>
                </a:solidFill>
              </a:defRPr>
            </a:pPr>
            <a:r>
              <a:t>Noise Robustness Protocol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47472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For each {env x algo x noise_type x noise_level}:</a:t>
            </a:r>
            <a:br/>
            <a:r>
              <a:t>  5 seeds -&gt; mean +/- 95% CI</a:t>
            </a:r>
            <a:br/>
            <a:r>
              <a:t>Distribution shift: train clean, test at noise={0.05,0.10,0.20,0.40}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017520"/>
            <a:ext cx="5669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3017520"/>
            <a:ext cx="73152" cy="137160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46520" y="31089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C3333"/>
                </a:solidFill>
              </a:defRPr>
            </a:pPr>
            <a:r>
              <a:t>Reporting Standards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47472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Training curves: shaded IQR across seeds</a:t>
            </a:r>
            <a:br/>
            <a:r>
              <a:t>Bar charts with error bars for final performance</a:t>
            </a:r>
            <a:br/>
            <a:r>
              <a:t>Pareto fronts for safe RL (reward vs cost)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" y="4389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</a:defRPr>
            </a:pPr>
            <a:r>
              <a:rPr dirty="0"/>
              <a:t>Required Paper Deliverables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" y="48463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dirty="0">
                <a:solidFill>
                  <a:srgbClr val="333333"/>
                </a:solidFill>
              </a:rPr>
              <a:t>Fig 1: Taxonomy diagram (3 </a:t>
            </a:r>
            <a:r>
              <a:rPr sz="1400" dirty="0" err="1">
                <a:solidFill>
                  <a:srgbClr val="333333"/>
                </a:solidFill>
              </a:rPr>
              <a:t>envs</a:t>
            </a:r>
            <a:r>
              <a:rPr sz="1400" dirty="0">
                <a:solidFill>
                  <a:srgbClr val="333333"/>
                </a:solidFill>
              </a:rPr>
              <a:t> x 3 paradigms x noise axes)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dirty="0">
                <a:solidFill>
                  <a:srgbClr val="333333"/>
                </a:solidFill>
              </a:rPr>
              <a:t>Fig 2: Training curves per env (shaded IQR)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dirty="0">
                <a:solidFill>
                  <a:srgbClr val="333333"/>
                </a:solidFill>
              </a:rPr>
              <a:t>Fig 3: Noise degradation curves (reward vs noise level by type)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dirty="0">
                <a:solidFill>
                  <a:srgbClr val="333333"/>
                </a:solidFill>
              </a:rPr>
              <a:t>Fig 4: Safe RL Pareto fronts (reward vs constraint cost)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dirty="0">
                <a:solidFill>
                  <a:srgbClr val="333333"/>
                </a:solidFill>
              </a:rPr>
              <a:t>Fig 5: MARL vs single-agent comparison bars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dirty="0">
                <a:solidFill>
                  <a:srgbClr val="333333"/>
                </a:solidFill>
              </a:rPr>
              <a:t>Table I: Env specs  |  Table II: Main results  |  Table III: Domain metrics  |  Table IV: Robustness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12191695" cy="8229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Timeline to Submission (June 19, 2026)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371600"/>
            <a:ext cx="3200400" cy="457200"/>
          </a:xfrm>
          <a:prstGeom prst="round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Phase 1: Critical Fixes  (Mar 3 - Apr 15)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1417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  Implement Do-Nothing + Rule-Based baselines (all envs)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417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  Run all experiments with 5 seeds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828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  Add domain-metric extraction to testing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828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  Complete Building &amp; Cogen std RL training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697480"/>
            <a:ext cx="3200400" cy="457200"/>
          </a:xfrm>
          <a:prstGeom prst="round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Phase 2: Core Experiments  (Apr 15 - May 15)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743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  Safe RL for Building &amp; Cogen (3 algos x 5 seeds)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743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  MARL training with sufficient iterations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154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  Distribution shift experiments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154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  Cross-paradigm comparison (StdRL vs SafeRL vs MARL)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023360"/>
            <a:ext cx="3200400" cy="45720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Phase 3: Analysis &amp; Writing  (May 15 - Jun 12)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0690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  Generate all figures and tables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40690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  Write 6-page IEEE format paper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4805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  Internal review and revision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44805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  Code cleanup for public release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5349239"/>
            <a:ext cx="3200400" cy="457200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Phase 4: Submit  (Jun 12 - Jun 19)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539495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  Final proofreading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539495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  Supplementary materials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580643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  Submit!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12191695" cy="8229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Recommended Paper Structure (6-Page IEEE)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CC"/>
                </a:solidFill>
              </a:defRPr>
            </a:pPr>
            <a:r>
              <a:t>I.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0" y="14630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8D2A"/>
                </a:solidFill>
              </a:defRPr>
            </a:pPr>
            <a:r>
              <a:t>0.75 pg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37160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Problem statement, motivation,</a:t>
            </a:r>
            <a:br/>
            <a:r>
              <a:t>5 contribution bullet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402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CC"/>
                </a:solidFill>
              </a:defRPr>
            </a:pPr>
            <a:r>
              <a:t>II. Related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3317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8D2A"/>
                </a:solidFill>
              </a:defRPr>
            </a:pPr>
            <a:r>
              <a:t>0.75 pg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224028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RL for energy, safe RL, MARL,</a:t>
            </a:r>
            <a:br/>
            <a:r>
              <a:t>benchmarks with gap identification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CC"/>
                </a:solidFill>
              </a:defRPr>
            </a:pPr>
            <a:r>
              <a:t>III. Environments &amp;</a:t>
            </a:r>
            <a:br/>
            <a:r>
              <a:t>    Problem Formulation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32004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8D2A"/>
                </a:solidFill>
              </a:defRPr>
            </a:pPr>
            <a:r>
              <a:t>1.0 pg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310896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Table I (env specs), noise model</a:t>
            </a:r>
            <a:br/>
            <a:r>
              <a:t>formalization, CMDP formulation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77639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CC"/>
                </a:solidFill>
              </a:defRPr>
            </a:pPr>
            <a:r>
              <a:t>IV. Experimental Setup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406907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8D2A"/>
                </a:solidFill>
              </a:defRPr>
            </a:pPr>
            <a:r>
              <a:t>0.75 pg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977639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Algorithms, hyperparameters, baselines,</a:t>
            </a:r>
            <a:br/>
            <a:r>
              <a:t>evaluation protocol, seeds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463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CC"/>
                </a:solidFill>
              </a:defRPr>
            </a:pPr>
            <a:r>
              <a:t>V. Results &amp;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49377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8D2A"/>
                </a:solidFill>
              </a:defRPr>
            </a:pPr>
            <a:r>
              <a:t>2.0 pg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484632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Main results (Tables II-III),</a:t>
            </a:r>
            <a:br/>
            <a:r>
              <a:t>noise robustness, safe RL, MARL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715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CC"/>
                </a:solidFill>
              </a:defRPr>
            </a:pPr>
            <a:r>
              <a:t>VI. Discussion &amp;</a:t>
            </a:r>
            <a:br/>
            <a:r>
              <a:t>     Conclusion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58064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8D2A"/>
                </a:solidFill>
              </a:defRPr>
            </a:pPr>
            <a:r>
              <a:t>0.75 pg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571500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Key insights, limitations,</a:t>
            </a:r>
            <a:br/>
            <a:r>
              <a:t>future work, code release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12191695" cy="8229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Key Research Questions &amp; Expected Findings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371600"/>
            <a:ext cx="5029200" cy="82296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Q1: Which algorithm wins?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0" y="1371600"/>
            <a:ext cx="6217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Likely SAC for off-policy efficiency,</a:t>
            </a:r>
            <a:br/>
            <a:r>
              <a:t>PPO for stability under noise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2423160"/>
            <a:ext cx="5029200" cy="822960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Q2: Is safe RL worth the reward cost?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2423160"/>
            <a:ext cx="6217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Quantify Pareto tradeoff:</a:t>
            </a:r>
            <a:br/>
            <a:r>
              <a:t>X% fewer violations at Y% reward reduction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3474720"/>
            <a:ext cx="5029200" cy="822960"/>
          </a:xfrm>
          <a:prstGeom prst="round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Q3: Does MARL improve over single-agent?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3474720"/>
            <a:ext cx="6217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Likely environment-dependent:</a:t>
            </a:r>
            <a:br/>
            <a:r>
              <a:t>EV charging may benefit, cogen may not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4526279"/>
            <a:ext cx="5029200" cy="822960"/>
          </a:xfrm>
          <a:prstGeom prst="round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Q4: Which noise type matters most?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4526279"/>
            <a:ext cx="6217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Hypothesis: env noise (distribution shift)</a:t>
            </a:r>
            <a:br/>
            <a:r>
              <a:t>dominates obs and action noise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5577840"/>
            <a:ext cx="5029200" cy="82296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Q5: Does RL beat non-RL baselines?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5577840"/>
            <a:ext cx="6217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RL likely beats rule-based but may</a:t>
            </a:r>
            <a:br/>
            <a:r>
              <a:t>not beat MPC in low-noise settings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731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Summary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2743200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31520" y="1901952"/>
            <a:ext cx="182880" cy="182880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The benchmark scope (3 envs x 3 paradigms) is strong and fits SmartGridComm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542032"/>
            <a:ext cx="182880" cy="182880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Critical gaps: non-RL baselines, statistical rigor, domain metrics, complete experiments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3182112"/>
            <a:ext cx="182880" cy="182880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Novelty is moderate but can be strengthened with protocol + insights framing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822191"/>
            <a:ext cx="182880" cy="182880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37490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Timeline is tight but feasible: 3.5 months to June 19 deadline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4462272"/>
            <a:ext cx="182880" cy="182880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Priority: baselines &gt; multi-seed &gt; complete experiments &gt; write paper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46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8D2A"/>
                </a:solidFill>
              </a:defRPr>
            </a:pPr>
            <a:r>
              <a:rPr dirty="0"/>
              <a:t>Immediate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3035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dirty="0">
                <a:solidFill>
                  <a:srgbClr val="CCCCCC"/>
                </a:solidFill>
              </a:rPr>
              <a:t>1. Implement Do-Nothing + Rule-Based baselines this week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dirty="0">
                <a:solidFill>
                  <a:srgbClr val="CCCCCC"/>
                </a:solidFill>
              </a:rPr>
              <a:t>2. Set up 5-seed runs for all completed experiments on ARC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dirty="0">
                <a:solidFill>
                  <a:srgbClr val="CCCCCC"/>
                </a:solidFill>
              </a:rPr>
              <a:t>3. Add domain-metric extraction to stdrl_testing.py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dirty="0">
                <a:solidFill>
                  <a:srgbClr val="CCCCCC"/>
                </a:solidFill>
              </a:rPr>
              <a:t>4. Queue remaining Building &amp; Cogen experiments on ARC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2082</Words>
  <Application>Microsoft Office PowerPoint</Application>
  <PresentationFormat>Widescreen</PresentationFormat>
  <Paragraphs>262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Koruturk, Mehmet</cp:lastModifiedBy>
  <cp:revision>2</cp:revision>
  <dcterms:created xsi:type="dcterms:W3CDTF">2013-01-27T09:14:16Z</dcterms:created>
  <dcterms:modified xsi:type="dcterms:W3CDTF">2026-03-03T21:01:26Z</dcterms:modified>
  <cp:category/>
</cp:coreProperties>
</file>